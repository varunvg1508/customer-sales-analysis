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0028F3-619F-4247-8FD9-2B8F4A4F2795}" v="61" dt="2026-06-25T05:29:24.9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un gokral" userId="cf35d847bb7413c9" providerId="LiveId" clId="{33446CBD-BBA0-47B0-924C-D64D84D64257}"/>
    <pc:docChg chg="undo custSel addSld delSld modSld sldOrd">
      <pc:chgData name="varun gokral" userId="cf35d847bb7413c9" providerId="LiveId" clId="{33446CBD-BBA0-47B0-924C-D64D84D64257}" dt="2026-06-25T05:24:35.044" v="1125" actId="20577"/>
      <pc:docMkLst>
        <pc:docMk/>
      </pc:docMkLst>
      <pc:sldChg chg="modSp mod">
        <pc:chgData name="varun gokral" userId="cf35d847bb7413c9" providerId="LiveId" clId="{33446CBD-BBA0-47B0-924C-D64D84D64257}" dt="2026-06-24T11:07:42.652" v="207" actId="27636"/>
        <pc:sldMkLst>
          <pc:docMk/>
          <pc:sldMk cId="2712418954" sldId="256"/>
        </pc:sldMkLst>
        <pc:spChg chg="mod">
          <ac:chgData name="varun gokral" userId="cf35d847bb7413c9" providerId="LiveId" clId="{33446CBD-BBA0-47B0-924C-D64D84D64257}" dt="2026-06-24T11:07:22.672" v="205" actId="14100"/>
          <ac:spMkLst>
            <pc:docMk/>
            <pc:sldMk cId="2712418954" sldId="256"/>
            <ac:spMk id="2" creationId="{6CE0C511-9C63-B58B-C672-1032E98FD98F}"/>
          </ac:spMkLst>
        </pc:spChg>
        <pc:spChg chg="mod">
          <ac:chgData name="varun gokral" userId="cf35d847bb7413c9" providerId="LiveId" clId="{33446CBD-BBA0-47B0-924C-D64D84D64257}" dt="2026-06-24T11:07:42.652" v="207" actId="27636"/>
          <ac:spMkLst>
            <pc:docMk/>
            <pc:sldMk cId="2712418954" sldId="256"/>
            <ac:spMk id="3" creationId="{4C173ADF-19B7-DCA3-3951-D8263599D223}"/>
          </ac:spMkLst>
        </pc:spChg>
      </pc:sldChg>
      <pc:sldChg chg="addSp modSp new mod modClrScheme chgLayout">
        <pc:chgData name="varun gokral" userId="cf35d847bb7413c9" providerId="LiveId" clId="{33446CBD-BBA0-47B0-924C-D64D84D64257}" dt="2026-06-24T12:07:04.600" v="500" actId="700"/>
        <pc:sldMkLst>
          <pc:docMk/>
          <pc:sldMk cId="2618239959" sldId="257"/>
        </pc:sldMkLst>
        <pc:spChg chg="mod ord">
          <ac:chgData name="varun gokral" userId="cf35d847bb7413c9" providerId="LiveId" clId="{33446CBD-BBA0-47B0-924C-D64D84D64257}" dt="2026-06-24T12:07:04.600" v="500" actId="700"/>
          <ac:spMkLst>
            <pc:docMk/>
            <pc:sldMk cId="2618239959" sldId="257"/>
            <ac:spMk id="2" creationId="{9CFC528B-E46E-AF36-321C-BD5C0E99FC08}"/>
          </ac:spMkLst>
        </pc:spChg>
        <pc:spChg chg="add mod ord">
          <ac:chgData name="varun gokral" userId="cf35d847bb7413c9" providerId="LiveId" clId="{33446CBD-BBA0-47B0-924C-D64D84D64257}" dt="2026-06-24T12:07:04.600" v="500" actId="700"/>
          <ac:spMkLst>
            <pc:docMk/>
            <pc:sldMk cId="2618239959" sldId="257"/>
            <ac:spMk id="3" creationId="{11E7223E-BF49-3E33-F379-9C47A826BB7C}"/>
          </ac:spMkLst>
        </pc:spChg>
      </pc:sldChg>
      <pc:sldChg chg="modSp new mod">
        <pc:chgData name="varun gokral" userId="cf35d847bb7413c9" providerId="LiveId" clId="{33446CBD-BBA0-47B0-924C-D64D84D64257}" dt="2026-06-24T11:17:00.086" v="376" actId="20577"/>
        <pc:sldMkLst>
          <pc:docMk/>
          <pc:sldMk cId="2753712117" sldId="258"/>
        </pc:sldMkLst>
        <pc:spChg chg="mod">
          <ac:chgData name="varun gokral" userId="cf35d847bb7413c9" providerId="LiveId" clId="{33446CBD-BBA0-47B0-924C-D64D84D64257}" dt="2026-06-24T11:11:27.874" v="245" actId="20577"/>
          <ac:spMkLst>
            <pc:docMk/>
            <pc:sldMk cId="2753712117" sldId="258"/>
            <ac:spMk id="2" creationId="{21BA10FF-FF37-0C90-21F5-296D5A4CE47B}"/>
          </ac:spMkLst>
        </pc:spChg>
        <pc:spChg chg="mod">
          <ac:chgData name="varun gokral" userId="cf35d847bb7413c9" providerId="LiveId" clId="{33446CBD-BBA0-47B0-924C-D64D84D64257}" dt="2026-06-24T11:17:00.086" v="376" actId="20577"/>
          <ac:spMkLst>
            <pc:docMk/>
            <pc:sldMk cId="2753712117" sldId="258"/>
            <ac:spMk id="3" creationId="{6C1F40AA-C6AA-9398-476C-4FA32D156A45}"/>
          </ac:spMkLst>
        </pc:spChg>
      </pc:sldChg>
      <pc:sldChg chg="addSp delSp modSp new mod modClrScheme chgLayout">
        <pc:chgData name="varun gokral" userId="cf35d847bb7413c9" providerId="LiveId" clId="{33446CBD-BBA0-47B0-924C-D64D84D64257}" dt="2026-06-24T12:27:47.120" v="611" actId="113"/>
        <pc:sldMkLst>
          <pc:docMk/>
          <pc:sldMk cId="3875360643" sldId="259"/>
        </pc:sldMkLst>
        <pc:spChg chg="mod ord">
          <ac:chgData name="varun gokral" userId="cf35d847bb7413c9" providerId="LiveId" clId="{33446CBD-BBA0-47B0-924C-D64D84D64257}" dt="2026-06-24T12:06:45.232" v="497" actId="700"/>
          <ac:spMkLst>
            <pc:docMk/>
            <pc:sldMk cId="3875360643" sldId="259"/>
            <ac:spMk id="2" creationId="{03F78999-2127-4763-A4BC-ABE49E43D1E6}"/>
          </ac:spMkLst>
        </pc:spChg>
        <pc:spChg chg="add del mod">
          <ac:chgData name="varun gokral" userId="cf35d847bb7413c9" providerId="LiveId" clId="{33446CBD-BBA0-47B0-924C-D64D84D64257}" dt="2026-06-24T12:05:45.933" v="489" actId="931"/>
          <ac:spMkLst>
            <pc:docMk/>
            <pc:sldMk cId="3875360643" sldId="259"/>
            <ac:spMk id="3" creationId="{507F7C96-2A99-B290-1114-7EF0A5313228}"/>
          </ac:spMkLst>
        </pc:spChg>
        <pc:spChg chg="add del mod">
          <ac:chgData name="varun gokral" userId="cf35d847bb7413c9" providerId="LiveId" clId="{33446CBD-BBA0-47B0-924C-D64D84D64257}" dt="2026-06-24T12:06:23.855" v="495"/>
          <ac:spMkLst>
            <pc:docMk/>
            <pc:sldMk cId="3875360643" sldId="259"/>
            <ac:spMk id="8" creationId="{D8D8AB1F-D66E-7266-4696-04BEB69D14D4}"/>
          </ac:spMkLst>
        </pc:spChg>
        <pc:spChg chg="add del mod ord">
          <ac:chgData name="varun gokral" userId="cf35d847bb7413c9" providerId="LiveId" clId="{33446CBD-BBA0-47B0-924C-D64D84D64257}" dt="2026-06-24T12:06:45.232" v="497" actId="700"/>
          <ac:spMkLst>
            <pc:docMk/>
            <pc:sldMk cId="3875360643" sldId="259"/>
            <ac:spMk id="9" creationId="{BDA74ADA-B6BC-98C5-6842-706C9224AEEA}"/>
          </ac:spMkLst>
        </pc:spChg>
        <pc:spChg chg="add mod">
          <ac:chgData name="varun gokral" userId="cf35d847bb7413c9" providerId="LiveId" clId="{33446CBD-BBA0-47B0-924C-D64D84D64257}" dt="2026-06-24T12:27:47.120" v="611" actId="113"/>
          <ac:spMkLst>
            <pc:docMk/>
            <pc:sldMk cId="3875360643" sldId="259"/>
            <ac:spMk id="10" creationId="{67545365-C6C5-D17D-7D84-526552521D77}"/>
          </ac:spMkLst>
        </pc:spChg>
        <pc:picChg chg="add del mod ord">
          <ac:chgData name="varun gokral" userId="cf35d847bb7413c9" providerId="LiveId" clId="{33446CBD-BBA0-47B0-924C-D64D84D64257}" dt="2026-06-24T12:03:27.265" v="488" actId="931"/>
          <ac:picMkLst>
            <pc:docMk/>
            <pc:sldMk cId="3875360643" sldId="259"/>
            <ac:picMk id="5" creationId="{E3F383F3-1452-85C0-303D-E0945AF9E134}"/>
          </ac:picMkLst>
        </pc:picChg>
        <pc:picChg chg="add mod ord">
          <ac:chgData name="varun gokral" userId="cf35d847bb7413c9" providerId="LiveId" clId="{33446CBD-BBA0-47B0-924C-D64D84D64257}" dt="2026-06-24T12:20:42.852" v="563" actId="14100"/>
          <ac:picMkLst>
            <pc:docMk/>
            <pc:sldMk cId="3875360643" sldId="259"/>
            <ac:picMk id="7" creationId="{46C08868-4A18-F654-22EB-A43C4A2E357F}"/>
          </ac:picMkLst>
        </pc:picChg>
        <pc:picChg chg="add del mod ord">
          <ac:chgData name="varun gokral" userId="cf35d847bb7413c9" providerId="LiveId" clId="{33446CBD-BBA0-47B0-924C-D64D84D64257}" dt="2026-06-24T12:02:18.099" v="486" actId="931"/>
          <ac:picMkLst>
            <pc:docMk/>
            <pc:sldMk cId="3875360643" sldId="259"/>
            <ac:picMk id="9" creationId="{D7128DBA-4238-349A-AA71-84F1ED014D19}"/>
          </ac:picMkLst>
        </pc:picChg>
      </pc:sldChg>
      <pc:sldChg chg="addSp delSp modSp new add del mod ord">
        <pc:chgData name="varun gokral" userId="cf35d847bb7413c9" providerId="LiveId" clId="{33446CBD-BBA0-47B0-924C-D64D84D64257}" dt="2026-06-24T12:27:38.304" v="609" actId="113"/>
        <pc:sldMkLst>
          <pc:docMk/>
          <pc:sldMk cId="3408551888" sldId="260"/>
        </pc:sldMkLst>
        <pc:spChg chg="mod">
          <ac:chgData name="varun gokral" userId="cf35d847bb7413c9" providerId="LiveId" clId="{33446CBD-BBA0-47B0-924C-D64D84D64257}" dt="2026-06-24T12:21:32.890" v="592" actId="255"/>
          <ac:spMkLst>
            <pc:docMk/>
            <pc:sldMk cId="3408551888" sldId="260"/>
            <ac:spMk id="2" creationId="{2A5B40FD-337D-8499-4DED-054CEAEF7628}"/>
          </ac:spMkLst>
        </pc:spChg>
        <pc:spChg chg="del mod">
          <ac:chgData name="varun gokral" userId="cf35d847bb7413c9" providerId="LiveId" clId="{33446CBD-BBA0-47B0-924C-D64D84D64257}" dt="2026-06-24T12:13:35.680" v="534" actId="931"/>
          <ac:spMkLst>
            <pc:docMk/>
            <pc:sldMk cId="3408551888" sldId="260"/>
            <ac:spMk id="3" creationId="{66AEDDC8-0981-0FA6-2A7D-FB47B9F4056A}"/>
          </ac:spMkLst>
        </pc:spChg>
        <pc:spChg chg="add del mod">
          <ac:chgData name="varun gokral" userId="cf35d847bb7413c9" providerId="LiveId" clId="{33446CBD-BBA0-47B0-924C-D64D84D64257}" dt="2026-06-24T12:15:02.849" v="537" actId="931"/>
          <ac:spMkLst>
            <pc:docMk/>
            <pc:sldMk cId="3408551888" sldId="260"/>
            <ac:spMk id="7" creationId="{47192834-BD0D-831D-425A-075022B93393}"/>
          </ac:spMkLst>
        </pc:spChg>
        <pc:spChg chg="add mod">
          <ac:chgData name="varun gokral" userId="cf35d847bb7413c9" providerId="LiveId" clId="{33446CBD-BBA0-47B0-924C-D64D84D64257}" dt="2026-06-24T12:27:38.304" v="609" actId="113"/>
          <ac:spMkLst>
            <pc:docMk/>
            <pc:sldMk cId="3408551888" sldId="260"/>
            <ac:spMk id="10" creationId="{C162AF20-3852-0934-D5A4-C4C874CA0D89}"/>
          </ac:spMkLst>
        </pc:spChg>
        <pc:picChg chg="add del mod ord">
          <ac:chgData name="varun gokral" userId="cf35d847bb7413c9" providerId="LiveId" clId="{33446CBD-BBA0-47B0-924C-D64D84D64257}" dt="2026-06-24T12:13:40.647" v="536" actId="21"/>
          <ac:picMkLst>
            <pc:docMk/>
            <pc:sldMk cId="3408551888" sldId="260"/>
            <ac:picMk id="5" creationId="{9B15373F-33AD-F975-73AE-BF1B16C61FDB}"/>
          </ac:picMkLst>
        </pc:picChg>
        <pc:picChg chg="add mod ord">
          <ac:chgData name="varun gokral" userId="cf35d847bb7413c9" providerId="LiveId" clId="{33446CBD-BBA0-47B0-924C-D64D84D64257}" dt="2026-06-24T12:15:08.525" v="539" actId="14100"/>
          <ac:picMkLst>
            <pc:docMk/>
            <pc:sldMk cId="3408551888" sldId="260"/>
            <ac:picMk id="9" creationId="{9246AAD6-1F96-FBD9-4543-4B82A6905BE0}"/>
          </ac:picMkLst>
        </pc:picChg>
      </pc:sldChg>
      <pc:sldChg chg="new del">
        <pc:chgData name="varun gokral" userId="cf35d847bb7413c9" providerId="LiveId" clId="{33446CBD-BBA0-47B0-924C-D64D84D64257}" dt="2026-06-24T13:49:23.076" v="1046" actId="47"/>
        <pc:sldMkLst>
          <pc:docMk/>
          <pc:sldMk cId="3648554700" sldId="261"/>
        </pc:sldMkLst>
      </pc:sldChg>
      <pc:sldChg chg="new del">
        <pc:chgData name="varun gokral" userId="cf35d847bb7413c9" providerId="LiveId" clId="{33446CBD-BBA0-47B0-924C-D64D84D64257}" dt="2026-06-24T13:40:42.652" v="1045" actId="47"/>
        <pc:sldMkLst>
          <pc:docMk/>
          <pc:sldMk cId="3516142766" sldId="262"/>
        </pc:sldMkLst>
      </pc:sldChg>
      <pc:sldChg chg="new add del">
        <pc:chgData name="varun gokral" userId="cf35d847bb7413c9" providerId="LiveId" clId="{33446CBD-BBA0-47B0-924C-D64D84D64257}" dt="2026-06-24T12:02:14.908" v="479" actId="680"/>
        <pc:sldMkLst>
          <pc:docMk/>
          <pc:sldMk cId="3672728693" sldId="263"/>
        </pc:sldMkLst>
      </pc:sldChg>
      <pc:sldChg chg="add del">
        <pc:chgData name="varun gokral" userId="cf35d847bb7413c9" providerId="LiveId" clId="{33446CBD-BBA0-47B0-924C-D64D84D64257}" dt="2026-06-24T12:13:06.341" v="530" actId="2696"/>
        <pc:sldMkLst>
          <pc:docMk/>
          <pc:sldMk cId="3781620749" sldId="263"/>
        </pc:sldMkLst>
      </pc:sldChg>
      <pc:sldChg chg="modSp add mod">
        <pc:chgData name="varun gokral" userId="cf35d847bb7413c9" providerId="LiveId" clId="{33446CBD-BBA0-47B0-924C-D64D84D64257}" dt="2026-06-24T12:28:38.977" v="635" actId="20577"/>
        <pc:sldMkLst>
          <pc:docMk/>
          <pc:sldMk cId="3920362040" sldId="263"/>
        </pc:sldMkLst>
        <pc:spChg chg="mod">
          <ac:chgData name="varun gokral" userId="cf35d847bb7413c9" providerId="LiveId" clId="{33446CBD-BBA0-47B0-924C-D64D84D64257}" dt="2026-06-24T12:28:38.977" v="635" actId="20577"/>
          <ac:spMkLst>
            <pc:docMk/>
            <pc:sldMk cId="3920362040" sldId="263"/>
            <ac:spMk id="2" creationId="{E06A8E43-6AFD-68D4-CED0-4BFCDAABCB63}"/>
          </ac:spMkLst>
        </pc:spChg>
        <pc:spChg chg="mod">
          <ac:chgData name="varun gokral" userId="cf35d847bb7413c9" providerId="LiveId" clId="{33446CBD-BBA0-47B0-924C-D64D84D64257}" dt="2026-06-24T12:27:27.513" v="607" actId="113"/>
          <ac:spMkLst>
            <pc:docMk/>
            <pc:sldMk cId="3920362040" sldId="263"/>
            <ac:spMk id="10" creationId="{EEA40F7D-E460-12DC-8A9B-4000A5134A31}"/>
          </ac:spMkLst>
        </pc:spChg>
        <pc:picChg chg="mod">
          <ac:chgData name="varun gokral" userId="cf35d847bb7413c9" providerId="LiveId" clId="{33446CBD-BBA0-47B0-924C-D64D84D64257}" dt="2026-06-24T12:25:45.833" v="594" actId="14826"/>
          <ac:picMkLst>
            <pc:docMk/>
            <pc:sldMk cId="3920362040" sldId="263"/>
            <ac:picMk id="9" creationId="{34744D17-026A-058A-F0B9-28DF2AE8CF04}"/>
          </ac:picMkLst>
        </pc:picChg>
      </pc:sldChg>
      <pc:sldChg chg="modSp add mod">
        <pc:chgData name="varun gokral" userId="cf35d847bb7413c9" providerId="LiveId" clId="{33446CBD-BBA0-47B0-924C-D64D84D64257}" dt="2026-06-24T12:33:47.737" v="681" actId="14826"/>
        <pc:sldMkLst>
          <pc:docMk/>
          <pc:sldMk cId="299999448" sldId="264"/>
        </pc:sldMkLst>
        <pc:spChg chg="mod">
          <ac:chgData name="varun gokral" userId="cf35d847bb7413c9" providerId="LiveId" clId="{33446CBD-BBA0-47B0-924C-D64D84D64257}" dt="2026-06-24T12:31:38.466" v="670" actId="20577"/>
          <ac:spMkLst>
            <pc:docMk/>
            <pc:sldMk cId="299999448" sldId="264"/>
            <ac:spMk id="2" creationId="{EB37AE1E-9336-187C-41B9-363A5EC6174E}"/>
          </ac:spMkLst>
        </pc:spChg>
        <pc:spChg chg="mod">
          <ac:chgData name="varun gokral" userId="cf35d847bb7413c9" providerId="LiveId" clId="{33446CBD-BBA0-47B0-924C-D64D84D64257}" dt="2026-06-24T12:32:33.488" v="680" actId="255"/>
          <ac:spMkLst>
            <pc:docMk/>
            <pc:sldMk cId="299999448" sldId="264"/>
            <ac:spMk id="10" creationId="{1C6C99D8-E6DA-26F3-1093-CE25E04CC06A}"/>
          </ac:spMkLst>
        </pc:spChg>
        <pc:picChg chg="mod">
          <ac:chgData name="varun gokral" userId="cf35d847bb7413c9" providerId="LiveId" clId="{33446CBD-BBA0-47B0-924C-D64D84D64257}" dt="2026-06-24T12:33:47.737" v="681" actId="14826"/>
          <ac:picMkLst>
            <pc:docMk/>
            <pc:sldMk cId="299999448" sldId="264"/>
            <ac:picMk id="9" creationId="{65369E4D-7C67-38E2-973F-71A001776148}"/>
          </ac:picMkLst>
        </pc:picChg>
      </pc:sldChg>
      <pc:sldChg chg="modSp add mod">
        <pc:chgData name="varun gokral" userId="cf35d847bb7413c9" providerId="LiveId" clId="{33446CBD-BBA0-47B0-924C-D64D84D64257}" dt="2026-06-24T13:12:54.565" v="787" actId="113"/>
        <pc:sldMkLst>
          <pc:docMk/>
          <pc:sldMk cId="3370109168" sldId="265"/>
        </pc:sldMkLst>
        <pc:spChg chg="mod">
          <ac:chgData name="varun gokral" userId="cf35d847bb7413c9" providerId="LiveId" clId="{33446CBD-BBA0-47B0-924C-D64D84D64257}" dt="2026-06-24T13:01:49.489" v="754" actId="20577"/>
          <ac:spMkLst>
            <pc:docMk/>
            <pc:sldMk cId="3370109168" sldId="265"/>
            <ac:spMk id="2" creationId="{611743EF-4F69-3FEF-83EC-F962AE22F30F}"/>
          </ac:spMkLst>
        </pc:spChg>
        <pc:spChg chg="mod">
          <ac:chgData name="varun gokral" userId="cf35d847bb7413c9" providerId="LiveId" clId="{33446CBD-BBA0-47B0-924C-D64D84D64257}" dt="2026-06-24T13:12:54.565" v="787" actId="113"/>
          <ac:spMkLst>
            <pc:docMk/>
            <pc:sldMk cId="3370109168" sldId="265"/>
            <ac:spMk id="10" creationId="{34CE4725-A175-B9C6-6CC1-C61173045EDF}"/>
          </ac:spMkLst>
        </pc:spChg>
        <pc:picChg chg="mod">
          <ac:chgData name="varun gokral" userId="cf35d847bb7413c9" providerId="LiveId" clId="{33446CBD-BBA0-47B0-924C-D64D84D64257}" dt="2026-06-24T13:09:35.301" v="763" actId="14826"/>
          <ac:picMkLst>
            <pc:docMk/>
            <pc:sldMk cId="3370109168" sldId="265"/>
            <ac:picMk id="9" creationId="{CFE9090B-B62E-98BA-99FA-42CAF50F6F8B}"/>
          </ac:picMkLst>
        </pc:picChg>
      </pc:sldChg>
      <pc:sldChg chg="modSp add mod">
        <pc:chgData name="varun gokral" userId="cf35d847bb7413c9" providerId="LiveId" clId="{33446CBD-BBA0-47B0-924C-D64D84D64257}" dt="2026-06-24T13:16:59.617" v="854" actId="20577"/>
        <pc:sldMkLst>
          <pc:docMk/>
          <pc:sldMk cId="449970968" sldId="266"/>
        </pc:sldMkLst>
        <pc:spChg chg="mod">
          <ac:chgData name="varun gokral" userId="cf35d847bb7413c9" providerId="LiveId" clId="{33446CBD-BBA0-47B0-924C-D64D84D64257}" dt="2026-06-24T13:16:59.617" v="854" actId="20577"/>
          <ac:spMkLst>
            <pc:docMk/>
            <pc:sldMk cId="449970968" sldId="266"/>
            <ac:spMk id="2" creationId="{E7F7068D-86D6-6DC3-51D1-EA47A8124A2D}"/>
          </ac:spMkLst>
        </pc:spChg>
        <pc:spChg chg="mod">
          <ac:chgData name="varun gokral" userId="cf35d847bb7413c9" providerId="LiveId" clId="{33446CBD-BBA0-47B0-924C-D64D84D64257}" dt="2026-06-24T13:16:19.709" v="820" actId="113"/>
          <ac:spMkLst>
            <pc:docMk/>
            <pc:sldMk cId="449970968" sldId="266"/>
            <ac:spMk id="10" creationId="{F5C97380-1158-27E5-CD3D-66739803746E}"/>
          </ac:spMkLst>
        </pc:spChg>
        <pc:picChg chg="mod">
          <ac:chgData name="varun gokral" userId="cf35d847bb7413c9" providerId="LiveId" clId="{33446CBD-BBA0-47B0-924C-D64D84D64257}" dt="2026-06-24T13:13:54.659" v="789" actId="14826"/>
          <ac:picMkLst>
            <pc:docMk/>
            <pc:sldMk cId="449970968" sldId="266"/>
            <ac:picMk id="9" creationId="{A48319E7-55A0-AC75-FC61-F70B08A862A9}"/>
          </ac:picMkLst>
        </pc:picChg>
      </pc:sldChg>
      <pc:sldChg chg="modSp add mod">
        <pc:chgData name="varun gokral" userId="cf35d847bb7413c9" providerId="LiveId" clId="{33446CBD-BBA0-47B0-924C-D64D84D64257}" dt="2026-06-25T05:24:35.044" v="1125" actId="20577"/>
        <pc:sldMkLst>
          <pc:docMk/>
          <pc:sldMk cId="2798377214" sldId="267"/>
        </pc:sldMkLst>
        <pc:spChg chg="mod">
          <ac:chgData name="varun gokral" userId="cf35d847bb7413c9" providerId="LiveId" clId="{33446CBD-BBA0-47B0-924C-D64D84D64257}" dt="2026-06-25T05:24:35.044" v="1125" actId="20577"/>
          <ac:spMkLst>
            <pc:docMk/>
            <pc:sldMk cId="2798377214" sldId="267"/>
            <ac:spMk id="2" creationId="{5811311B-47B1-9554-40DA-A6BC7B47A60A}"/>
          </ac:spMkLst>
        </pc:spChg>
        <pc:spChg chg="mod">
          <ac:chgData name="varun gokral" userId="cf35d847bb7413c9" providerId="LiveId" clId="{33446CBD-BBA0-47B0-924C-D64D84D64257}" dt="2026-06-24T13:39:56.861" v="1041" actId="255"/>
          <ac:spMkLst>
            <pc:docMk/>
            <pc:sldMk cId="2798377214" sldId="267"/>
            <ac:spMk id="10" creationId="{6B4EB73A-15B6-84A3-3EC8-C5A6FE0ED6AF}"/>
          </ac:spMkLst>
        </pc:spChg>
        <pc:picChg chg="mod">
          <ac:chgData name="varun gokral" userId="cf35d847bb7413c9" providerId="LiveId" clId="{33446CBD-BBA0-47B0-924C-D64D84D64257}" dt="2026-06-24T13:21:11.803" v="856" actId="14826"/>
          <ac:picMkLst>
            <pc:docMk/>
            <pc:sldMk cId="2798377214" sldId="267"/>
            <ac:picMk id="9" creationId="{26A29E28-8F83-5303-AE32-6597F8DDFBCC}"/>
          </ac:picMkLst>
        </pc:picChg>
      </pc:sldChg>
      <pc:sldChg chg="modSp add mod">
        <pc:chgData name="varun gokral" userId="cf35d847bb7413c9" providerId="LiveId" clId="{33446CBD-BBA0-47B0-924C-D64D84D64257}" dt="2026-06-24T13:29:38.070" v="925" actId="20577"/>
        <pc:sldMkLst>
          <pc:docMk/>
          <pc:sldMk cId="1218401481" sldId="268"/>
        </pc:sldMkLst>
        <pc:spChg chg="mod">
          <ac:chgData name="varun gokral" userId="cf35d847bb7413c9" providerId="LiveId" clId="{33446CBD-BBA0-47B0-924C-D64D84D64257}" dt="2026-06-24T13:29:38.070" v="925" actId="20577"/>
          <ac:spMkLst>
            <pc:docMk/>
            <pc:sldMk cId="1218401481" sldId="268"/>
            <ac:spMk id="2" creationId="{0B1B9E19-ACE9-1E27-7E4E-BA105B3C55A4}"/>
          </ac:spMkLst>
        </pc:spChg>
        <pc:spChg chg="mod">
          <ac:chgData name="varun gokral" userId="cf35d847bb7413c9" providerId="LiveId" clId="{33446CBD-BBA0-47B0-924C-D64D84D64257}" dt="2026-06-24T13:27:59.243" v="897" actId="113"/>
          <ac:spMkLst>
            <pc:docMk/>
            <pc:sldMk cId="1218401481" sldId="268"/>
            <ac:spMk id="10" creationId="{1911CB85-1F30-B77A-05EC-FE33D65302D6}"/>
          </ac:spMkLst>
        </pc:spChg>
        <pc:picChg chg="mod">
          <ac:chgData name="varun gokral" userId="cf35d847bb7413c9" providerId="LiveId" clId="{33446CBD-BBA0-47B0-924C-D64D84D64257}" dt="2026-06-24T13:29:14.263" v="898" actId="14100"/>
          <ac:picMkLst>
            <pc:docMk/>
            <pc:sldMk cId="1218401481" sldId="268"/>
            <ac:picMk id="9" creationId="{12B48D8B-52F7-40FF-DFCB-4D6E9F8A75E7}"/>
          </ac:picMkLst>
        </pc:picChg>
      </pc:sldChg>
      <pc:sldChg chg="modSp add mod">
        <pc:chgData name="varun gokral" userId="cf35d847bb7413c9" providerId="LiveId" clId="{33446CBD-BBA0-47B0-924C-D64D84D64257}" dt="2026-06-24T13:39:48.965" v="1040" actId="255"/>
        <pc:sldMkLst>
          <pc:docMk/>
          <pc:sldMk cId="3689516429" sldId="269"/>
        </pc:sldMkLst>
        <pc:spChg chg="mod">
          <ac:chgData name="varun gokral" userId="cf35d847bb7413c9" providerId="LiveId" clId="{33446CBD-BBA0-47B0-924C-D64D84D64257}" dt="2026-06-24T13:36:51.134" v="975" actId="20577"/>
          <ac:spMkLst>
            <pc:docMk/>
            <pc:sldMk cId="3689516429" sldId="269"/>
            <ac:spMk id="2" creationId="{9CCA427C-BF16-F1A5-6984-EF8C2DADB211}"/>
          </ac:spMkLst>
        </pc:spChg>
        <pc:spChg chg="mod">
          <ac:chgData name="varun gokral" userId="cf35d847bb7413c9" providerId="LiveId" clId="{33446CBD-BBA0-47B0-924C-D64D84D64257}" dt="2026-06-24T13:39:48.965" v="1040" actId="255"/>
          <ac:spMkLst>
            <pc:docMk/>
            <pc:sldMk cId="3689516429" sldId="269"/>
            <ac:spMk id="10" creationId="{5E2B208C-0399-B603-6068-A63A07276D3B}"/>
          </ac:spMkLst>
        </pc:spChg>
        <pc:picChg chg="mod">
          <ac:chgData name="varun gokral" userId="cf35d847bb7413c9" providerId="LiveId" clId="{33446CBD-BBA0-47B0-924C-D64D84D64257}" dt="2026-06-24T13:34:49.760" v="929" actId="14100"/>
          <ac:picMkLst>
            <pc:docMk/>
            <pc:sldMk cId="3689516429" sldId="269"/>
            <ac:picMk id="9" creationId="{F2390A7E-739F-09CB-8B0B-94A7A1C17098}"/>
          </ac:picMkLst>
        </pc:picChg>
      </pc:sldChg>
      <pc:sldChg chg="modSp add mod">
        <pc:chgData name="varun gokral" userId="cf35d847bb7413c9" providerId="LiveId" clId="{33446CBD-BBA0-47B0-924C-D64D84D64257}" dt="2026-06-24T13:40:19.468" v="1044" actId="255"/>
        <pc:sldMkLst>
          <pc:docMk/>
          <pc:sldMk cId="74284257" sldId="270"/>
        </pc:sldMkLst>
        <pc:spChg chg="mod">
          <ac:chgData name="varun gokral" userId="cf35d847bb7413c9" providerId="LiveId" clId="{33446CBD-BBA0-47B0-924C-D64D84D64257}" dt="2026-06-24T13:38:17.808" v="1024" actId="20577"/>
          <ac:spMkLst>
            <pc:docMk/>
            <pc:sldMk cId="74284257" sldId="270"/>
            <ac:spMk id="2" creationId="{B09A1EB5-9E5A-63E8-8E97-92161F38015E}"/>
          </ac:spMkLst>
        </pc:spChg>
        <pc:spChg chg="mod">
          <ac:chgData name="varun gokral" userId="cf35d847bb7413c9" providerId="LiveId" clId="{33446CBD-BBA0-47B0-924C-D64D84D64257}" dt="2026-06-24T13:40:19.468" v="1044" actId="255"/>
          <ac:spMkLst>
            <pc:docMk/>
            <pc:sldMk cId="74284257" sldId="270"/>
            <ac:spMk id="10" creationId="{BA595783-1797-21ED-3804-A32A9D389649}"/>
          </ac:spMkLst>
        </pc:spChg>
        <pc:picChg chg="mod">
          <ac:chgData name="varun gokral" userId="cf35d847bb7413c9" providerId="LiveId" clId="{33446CBD-BBA0-47B0-924C-D64D84D64257}" dt="2026-06-24T13:37:52.724" v="984" actId="14826"/>
          <ac:picMkLst>
            <pc:docMk/>
            <pc:sldMk cId="74284257" sldId="270"/>
            <ac:picMk id="9" creationId="{5286953D-A47C-D9F8-9F4C-CC04DC85AD65}"/>
          </ac:picMkLst>
        </pc:picChg>
      </pc:sldChg>
      <pc:sldChg chg="new del">
        <pc:chgData name="varun gokral" userId="cf35d847bb7413c9" providerId="LiveId" clId="{33446CBD-BBA0-47B0-924C-D64D84D64257}" dt="2026-06-24T13:49:32.205" v="1048" actId="47"/>
        <pc:sldMkLst>
          <pc:docMk/>
          <pc:sldMk cId="1837720312" sldId="271"/>
        </pc:sldMkLst>
      </pc:sldChg>
      <pc:sldChg chg="addSp modSp new mod">
        <pc:chgData name="varun gokral" userId="cf35d847bb7413c9" providerId="LiveId" clId="{33446CBD-BBA0-47B0-924C-D64D84D64257}" dt="2026-06-24T13:55:48.360" v="1056" actId="14826"/>
        <pc:sldMkLst>
          <pc:docMk/>
          <pc:sldMk cId="2383044056" sldId="271"/>
        </pc:sldMkLst>
        <pc:picChg chg="add mod">
          <ac:chgData name="varun gokral" userId="cf35d847bb7413c9" providerId="LiveId" clId="{33446CBD-BBA0-47B0-924C-D64D84D64257}" dt="2026-06-24T13:55:48.360" v="1056" actId="14826"/>
          <ac:picMkLst>
            <pc:docMk/>
            <pc:sldMk cId="2383044056" sldId="271"/>
            <ac:picMk id="3" creationId="{8CEE155A-5095-FADF-0FC8-595BFE0AD3BD}"/>
          </ac:picMkLst>
        </pc:picChg>
      </pc:sldChg>
      <pc:sldChg chg="addSp delSp modSp new mod modClrScheme chgLayout">
        <pc:chgData name="varun gokral" userId="cf35d847bb7413c9" providerId="LiveId" clId="{33446CBD-BBA0-47B0-924C-D64D84D64257}" dt="2026-06-24T13:59:23.157" v="1093" actId="255"/>
        <pc:sldMkLst>
          <pc:docMk/>
          <pc:sldMk cId="1447227448" sldId="272"/>
        </pc:sldMkLst>
        <pc:spChg chg="add del mod">
          <ac:chgData name="varun gokral" userId="cf35d847bb7413c9" providerId="LiveId" clId="{33446CBD-BBA0-47B0-924C-D64D84D64257}" dt="2026-06-24T13:56:33.605" v="1060" actId="21"/>
          <ac:spMkLst>
            <pc:docMk/>
            <pc:sldMk cId="1447227448" sldId="272"/>
            <ac:spMk id="2" creationId="{ADA02795-C934-BCCD-611C-EFC5F83A4793}"/>
          </ac:spMkLst>
        </pc:spChg>
        <pc:spChg chg="add mod">
          <ac:chgData name="varun gokral" userId="cf35d847bb7413c9" providerId="LiveId" clId="{33446CBD-BBA0-47B0-924C-D64D84D64257}" dt="2026-06-24T13:59:23.157" v="1093" actId="255"/>
          <ac:spMkLst>
            <pc:docMk/>
            <pc:sldMk cId="1447227448" sldId="272"/>
            <ac:spMk id="3" creationId="{A92ECE23-69B7-E831-77B2-665CD76C776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5E12C9E-5F67-4278-8363-F74F51DF9128}"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291282564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E12C9E-5F67-4278-8363-F74F51DF9128}"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1622056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5E12C9E-5F67-4278-8363-F74F51DF9128}"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22250311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5E12C9E-5F67-4278-8363-F74F51DF9128}" type="datetimeFigureOut">
              <a:rPr lang="en-US" smtClean="0"/>
              <a:t>6/25/2026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966544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5E12C9E-5F67-4278-8363-F74F51DF9128}"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1EED21-34F8-420B-90FC-A8B71B00CE29}"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756655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E12C9E-5F67-4278-8363-F74F51DF9128}"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4268485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E12C9E-5F67-4278-8363-F74F51DF9128}"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1335237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B5E12C9E-5F67-4278-8363-F74F51DF9128}" type="datetimeFigureOut">
              <a:rPr lang="en-US" smtClean="0"/>
              <a:t>6/25/2026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23004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5E12C9E-5F67-4278-8363-F74F51DF9128}" type="datetimeFigureOut">
              <a:rPr lang="en-US" smtClean="0"/>
              <a:t>6/25/2026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261990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E12C9E-5F67-4278-8363-F74F51DF9128}"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61863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E12C9E-5F67-4278-8363-F74F51DF9128}"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1EED21-34F8-420B-90FC-A8B71B00CE29}" type="slidenum">
              <a:rPr lang="en-US" smtClean="0"/>
              <a:t>‹#›</a:t>
            </a:fld>
            <a:endParaRPr lang="en-US"/>
          </a:p>
        </p:txBody>
      </p:sp>
    </p:spTree>
    <p:extLst>
      <p:ext uri="{BB962C8B-B14F-4D97-AF65-F5344CB8AC3E}">
        <p14:creationId xmlns:p14="http://schemas.microsoft.com/office/powerpoint/2010/main" val="320220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B5E12C9E-5F67-4278-8363-F74F51DF9128}" type="datetimeFigureOut">
              <a:rPr lang="en-US" smtClean="0"/>
              <a:t>6/25/2026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F1EED21-34F8-420B-90FC-A8B71B00CE29}" type="slidenum">
              <a:rPr lang="en-US" smtClean="0"/>
              <a:t>‹#›</a:t>
            </a:fld>
            <a:endParaRPr lang="en-US"/>
          </a:p>
        </p:txBody>
      </p:sp>
    </p:spTree>
    <p:extLst>
      <p:ext uri="{BB962C8B-B14F-4D97-AF65-F5344CB8AC3E}">
        <p14:creationId xmlns:p14="http://schemas.microsoft.com/office/powerpoint/2010/main" val="189521943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C511-9C63-B58B-C672-1032E98FD98F}"/>
              </a:ext>
            </a:extLst>
          </p:cNvPr>
          <p:cNvSpPr>
            <a:spLocks noGrp="1"/>
          </p:cNvSpPr>
          <p:nvPr>
            <p:ph type="ctrTitle"/>
          </p:nvPr>
        </p:nvSpPr>
        <p:spPr>
          <a:xfrm>
            <a:off x="1972733" y="237066"/>
            <a:ext cx="8204200" cy="694267"/>
          </a:xfrm>
        </p:spPr>
        <p:txBody>
          <a:bodyPr>
            <a:normAutofit fontScale="90000"/>
          </a:bodyPr>
          <a:lstStyle/>
          <a:p>
            <a:r>
              <a:rPr lang="en-US" b="1" dirty="0"/>
              <a:t>Customer Data Analysis</a:t>
            </a:r>
          </a:p>
        </p:txBody>
      </p:sp>
      <p:sp>
        <p:nvSpPr>
          <p:cNvPr id="3" name="Subtitle 2">
            <a:extLst>
              <a:ext uri="{FF2B5EF4-FFF2-40B4-BE49-F238E27FC236}">
                <a16:creationId xmlns:a16="http://schemas.microsoft.com/office/drawing/2014/main" id="{4C173ADF-19B7-DCA3-3951-D8263599D223}"/>
              </a:ext>
            </a:extLst>
          </p:cNvPr>
          <p:cNvSpPr>
            <a:spLocks noGrp="1"/>
          </p:cNvSpPr>
          <p:nvPr>
            <p:ph type="subTitle" idx="1"/>
          </p:nvPr>
        </p:nvSpPr>
        <p:spPr>
          <a:xfrm>
            <a:off x="1524000" y="1761067"/>
            <a:ext cx="9144000" cy="2540000"/>
          </a:xfrm>
        </p:spPr>
        <p:txBody>
          <a:bodyPr>
            <a:normAutofit lnSpcReduction="10000"/>
          </a:bodyPr>
          <a:lstStyle/>
          <a:p>
            <a:r>
              <a:rPr lang="en-US" b="1" dirty="0">
                <a:latin typeface="Arial Black" panose="020B0A04020102020204" pitchFamily="34" charset="0"/>
              </a:rPr>
              <a:t>Internship Project June-2026 </a:t>
            </a:r>
          </a:p>
          <a:p>
            <a:r>
              <a:rPr lang="en-US" b="1" dirty="0">
                <a:latin typeface="Arial Black" panose="020B0A04020102020204" pitchFamily="34" charset="0"/>
              </a:rPr>
              <a:t>PRDA-05-Customer Data Analysis</a:t>
            </a:r>
          </a:p>
          <a:p>
            <a:pPr algn="l"/>
            <a:endParaRPr lang="en-US" b="1" dirty="0">
              <a:latin typeface="Arial Black" panose="020B0A04020102020204" pitchFamily="34" charset="0"/>
            </a:endParaRPr>
          </a:p>
          <a:p>
            <a:pPr marL="342900" indent="-342900">
              <a:buFont typeface="Wingdings" panose="05000000000000000000" pitchFamily="2" charset="2"/>
              <a:buChar char="§"/>
            </a:pPr>
            <a:r>
              <a:rPr lang="en-US" b="1" dirty="0">
                <a:latin typeface="Arial Black" panose="020B0A04020102020204" pitchFamily="34" charset="0"/>
              </a:rPr>
              <a:t>Submitted By: Varun Vinay Gokral</a:t>
            </a:r>
          </a:p>
          <a:p>
            <a:pPr marL="342900" indent="-342900">
              <a:buFont typeface="Wingdings" panose="05000000000000000000" pitchFamily="2" charset="2"/>
              <a:buChar char="§"/>
            </a:pPr>
            <a:r>
              <a:rPr lang="en-US" b="1" dirty="0">
                <a:latin typeface="Arial Black" panose="020B0A04020102020204" pitchFamily="34" charset="0"/>
              </a:rPr>
              <a:t>Tools Used: SQL | Power Bi | Power Query | DAX</a:t>
            </a:r>
          </a:p>
          <a:p>
            <a:pPr marL="342900" indent="-342900">
              <a:buFont typeface="Wingdings" panose="05000000000000000000" pitchFamily="2" charset="2"/>
              <a:buChar char="§"/>
            </a:pPr>
            <a:r>
              <a:rPr lang="en-US" b="1" dirty="0">
                <a:latin typeface="Arial Black" panose="020B0A04020102020204" pitchFamily="34" charset="0"/>
              </a:rPr>
              <a:t>Dataset Source: MySQL Database(99,457 Records)</a:t>
            </a:r>
          </a:p>
          <a:p>
            <a:endParaRPr lang="en-US" b="1" dirty="0">
              <a:latin typeface="Arial Black" panose="020B0A04020102020204" pitchFamily="34" charset="0"/>
            </a:endParaRPr>
          </a:p>
        </p:txBody>
      </p:sp>
    </p:spTree>
    <p:extLst>
      <p:ext uri="{BB962C8B-B14F-4D97-AF65-F5344CB8AC3E}">
        <p14:creationId xmlns:p14="http://schemas.microsoft.com/office/powerpoint/2010/main" val="2712418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528B-E46E-AF36-321C-BD5C0E99FC08}"/>
              </a:ext>
            </a:extLst>
          </p:cNvPr>
          <p:cNvSpPr>
            <a:spLocks noGrp="1"/>
          </p:cNvSpPr>
          <p:nvPr>
            <p:ph type="title"/>
          </p:nvPr>
        </p:nvSpPr>
        <p:spPr>
          <a:xfrm>
            <a:off x="423333" y="550332"/>
            <a:ext cx="10938933" cy="1659467"/>
          </a:xfrm>
        </p:spPr>
        <p:txBody>
          <a:bodyPr>
            <a:normAutofit fontScale="90000"/>
          </a:bodyPr>
          <a:lstStyle/>
          <a:p>
            <a:pPr algn="l"/>
            <a:r>
              <a:rPr lang="en-US" sz="2700" dirty="0">
                <a:latin typeface="Arial Black" panose="020B0A04020102020204" pitchFamily="34" charset="0"/>
              </a:rPr>
              <a:t>Project Objective:</a:t>
            </a:r>
            <a:br>
              <a:rPr lang="en-US" sz="2700" dirty="0">
                <a:latin typeface="Arial Black" panose="020B0A04020102020204" pitchFamily="34" charset="0"/>
              </a:rPr>
            </a:br>
            <a:br>
              <a:rPr lang="en-US" dirty="0"/>
            </a:br>
            <a:r>
              <a:rPr lang="en-US" sz="1800" cap="none" dirty="0"/>
              <a:t>This Project Aims To Analyze Retail Customer Transaction Data To Understand Customer Purchasing Behavior And Identify Business Insights. Using SQL And Power BI, The Data Was Analyzed To Evaluate Revenue Trends, Product Performance, Customer Demographics, And Payment Preferences.</a:t>
            </a:r>
            <a:endParaRPr lang="en-US" sz="1800" dirty="0"/>
          </a:p>
        </p:txBody>
      </p:sp>
      <p:sp>
        <p:nvSpPr>
          <p:cNvPr id="3" name="Content Placeholder 2">
            <a:extLst>
              <a:ext uri="{FF2B5EF4-FFF2-40B4-BE49-F238E27FC236}">
                <a16:creationId xmlns:a16="http://schemas.microsoft.com/office/drawing/2014/main" id="{11E7223E-BF49-3E33-F379-9C47A826BB7C}"/>
              </a:ext>
            </a:extLst>
          </p:cNvPr>
          <p:cNvSpPr>
            <a:spLocks noGrp="1"/>
          </p:cNvSpPr>
          <p:nvPr>
            <p:ph idx="1"/>
          </p:nvPr>
        </p:nvSpPr>
        <p:spPr>
          <a:xfrm>
            <a:off x="423335" y="2638044"/>
            <a:ext cx="10583334" cy="3101983"/>
          </a:xfrm>
        </p:spPr>
        <p:txBody>
          <a:bodyPr/>
          <a:lstStyle/>
          <a:p>
            <a:r>
              <a:rPr lang="en-US" dirty="0"/>
              <a:t>Objectives </a:t>
            </a:r>
          </a:p>
          <a:p>
            <a:r>
              <a:rPr lang="en-US" dirty="0"/>
              <a:t>Extract customer transaction data from a MySQL database.</a:t>
            </a:r>
          </a:p>
          <a:p>
            <a:r>
              <a:rPr lang="en-US" dirty="0"/>
              <a:t>Clean and prepare the dataset using Power Query.</a:t>
            </a:r>
          </a:p>
          <a:p>
            <a:r>
              <a:rPr lang="en-US" dirty="0"/>
              <a:t>Analyze sales, revenue, and customer purchasing patterns.</a:t>
            </a:r>
          </a:p>
          <a:p>
            <a:r>
              <a:rPr lang="en-US" dirty="0"/>
              <a:t>Create interactive visualizations using Power BI.</a:t>
            </a:r>
          </a:p>
          <a:p>
            <a:r>
              <a:rPr lang="en-US" dirty="0"/>
              <a:t>Generate business insights and recommendations based on the analysis.</a:t>
            </a:r>
          </a:p>
        </p:txBody>
      </p:sp>
    </p:spTree>
    <p:extLst>
      <p:ext uri="{BB962C8B-B14F-4D97-AF65-F5344CB8AC3E}">
        <p14:creationId xmlns:p14="http://schemas.microsoft.com/office/powerpoint/2010/main" val="2618239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10FF-FF37-0C90-21F5-296D5A4CE47B}"/>
              </a:ext>
            </a:extLst>
          </p:cNvPr>
          <p:cNvSpPr>
            <a:spLocks noGrp="1"/>
          </p:cNvSpPr>
          <p:nvPr>
            <p:ph type="title"/>
          </p:nvPr>
        </p:nvSpPr>
        <p:spPr>
          <a:xfrm>
            <a:off x="262467" y="523613"/>
            <a:ext cx="11861800" cy="1188720"/>
          </a:xfrm>
        </p:spPr>
        <p:txBody>
          <a:bodyPr>
            <a:normAutofit fontScale="90000"/>
          </a:bodyPr>
          <a:lstStyle/>
          <a:p>
            <a:pPr algn="l"/>
            <a:r>
              <a:rPr lang="en-US" sz="2400" b="1" cap="none" dirty="0">
                <a:latin typeface="Arial Black" panose="020B0A04020102020204" pitchFamily="34" charset="0"/>
              </a:rPr>
              <a:t>Dataset Overview:</a:t>
            </a:r>
            <a:br>
              <a:rPr lang="en-US" sz="2400" b="1" cap="none" dirty="0">
                <a:latin typeface="Arial Black" panose="020B0A04020102020204" pitchFamily="34" charset="0"/>
              </a:rPr>
            </a:br>
            <a:br>
              <a:rPr lang="en-US" sz="1800" cap="none" dirty="0"/>
            </a:br>
            <a:r>
              <a:rPr lang="en-US" sz="1800" cap="none" dirty="0"/>
              <a:t>Dataset Source: MySQL Database</a:t>
            </a:r>
            <a:br>
              <a:rPr lang="en-US" sz="1800" cap="none" dirty="0"/>
            </a:br>
            <a:r>
              <a:rPr lang="en-US" sz="1800" cap="none" dirty="0"/>
              <a:t>Total Records: 99,457 Transactions</a:t>
            </a:r>
          </a:p>
        </p:txBody>
      </p:sp>
      <p:sp>
        <p:nvSpPr>
          <p:cNvPr id="3" name="Content Placeholder 2">
            <a:extLst>
              <a:ext uri="{FF2B5EF4-FFF2-40B4-BE49-F238E27FC236}">
                <a16:creationId xmlns:a16="http://schemas.microsoft.com/office/drawing/2014/main" id="{6C1F40AA-C6AA-9398-476C-4FA32D156A45}"/>
              </a:ext>
            </a:extLst>
          </p:cNvPr>
          <p:cNvSpPr>
            <a:spLocks noGrp="1"/>
          </p:cNvSpPr>
          <p:nvPr>
            <p:ph idx="1"/>
          </p:nvPr>
        </p:nvSpPr>
        <p:spPr>
          <a:xfrm>
            <a:off x="262467" y="1888068"/>
            <a:ext cx="11861800" cy="3903132"/>
          </a:xfrm>
        </p:spPr>
        <p:txBody>
          <a:bodyPr>
            <a:normAutofit/>
          </a:bodyPr>
          <a:lstStyle/>
          <a:p>
            <a:r>
              <a:rPr lang="en-US" dirty="0"/>
              <a:t>Dataset Includes</a:t>
            </a:r>
          </a:p>
          <a:p>
            <a:r>
              <a:rPr lang="en-US" dirty="0"/>
              <a:t>Customer ID</a:t>
            </a:r>
          </a:p>
          <a:p>
            <a:r>
              <a:rPr lang="en-US" dirty="0"/>
              <a:t>Customer Demographics (Age, Gender)</a:t>
            </a:r>
          </a:p>
          <a:p>
            <a:r>
              <a:rPr lang="en-US" dirty="0"/>
              <a:t>Product Categories</a:t>
            </a:r>
          </a:p>
          <a:p>
            <a:r>
              <a:rPr lang="en-US" dirty="0"/>
              <a:t>Quantity Purchased</a:t>
            </a:r>
          </a:p>
          <a:p>
            <a:r>
              <a:rPr lang="en-US" dirty="0"/>
              <a:t>Payment Methods</a:t>
            </a:r>
          </a:p>
          <a:p>
            <a:r>
              <a:rPr lang="en-US" dirty="0"/>
              <a:t>Shopping Mall Information</a:t>
            </a:r>
          </a:p>
          <a:p>
            <a:r>
              <a:rPr lang="en-US" dirty="0"/>
              <a:t>Transaction Details(Invoice No, Invoice Date)</a:t>
            </a:r>
          </a:p>
          <a:p>
            <a:r>
              <a:rPr lang="en-US" dirty="0"/>
              <a:t>The dataset was extracted from a MySQL database, cleaned using Power Query, and analyzed in Power BI to generate visualizations and business insights.</a:t>
            </a:r>
          </a:p>
        </p:txBody>
      </p:sp>
    </p:spTree>
    <p:extLst>
      <p:ext uri="{BB962C8B-B14F-4D97-AF65-F5344CB8AC3E}">
        <p14:creationId xmlns:p14="http://schemas.microsoft.com/office/powerpoint/2010/main" val="2753712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8999-2127-4763-A4BC-ABE49E43D1E6}"/>
              </a:ext>
            </a:extLst>
          </p:cNvPr>
          <p:cNvSpPr>
            <a:spLocks noGrp="1"/>
          </p:cNvSpPr>
          <p:nvPr>
            <p:ph type="title"/>
          </p:nvPr>
        </p:nvSpPr>
        <p:spPr>
          <a:xfrm>
            <a:off x="702733" y="253492"/>
            <a:ext cx="10329334" cy="550841"/>
          </a:xfrm>
        </p:spPr>
        <p:txBody>
          <a:bodyPr>
            <a:noAutofit/>
          </a:bodyPr>
          <a:lstStyle/>
          <a:p>
            <a:r>
              <a:rPr lang="en-US" sz="2400" b="1" cap="none" dirty="0">
                <a:latin typeface="Arial Black" panose="020B0A04020102020204" pitchFamily="34" charset="0"/>
              </a:rPr>
              <a:t>Shopping Distribution By Gender</a:t>
            </a:r>
          </a:p>
        </p:txBody>
      </p:sp>
      <p:pic>
        <p:nvPicPr>
          <p:cNvPr id="7" name="Content Placeholder 6">
            <a:extLst>
              <a:ext uri="{FF2B5EF4-FFF2-40B4-BE49-F238E27FC236}">
                <a16:creationId xmlns:a16="http://schemas.microsoft.com/office/drawing/2014/main" id="{46C08868-4A18-F654-22EB-A43C4A2E35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2732" y="1168602"/>
            <a:ext cx="5503337" cy="4097665"/>
          </a:xfrm>
          <a:prstGeom prst="rect">
            <a:avLst/>
          </a:prstGeom>
        </p:spPr>
      </p:pic>
      <p:sp>
        <p:nvSpPr>
          <p:cNvPr id="10" name="TextBox 9">
            <a:extLst>
              <a:ext uri="{FF2B5EF4-FFF2-40B4-BE49-F238E27FC236}">
                <a16:creationId xmlns:a16="http://schemas.microsoft.com/office/drawing/2014/main" id="{67545365-C6C5-D17D-7D84-526552521D77}"/>
              </a:ext>
            </a:extLst>
          </p:cNvPr>
          <p:cNvSpPr txBox="1"/>
          <p:nvPr/>
        </p:nvSpPr>
        <p:spPr>
          <a:xfrm>
            <a:off x="6417736" y="1366897"/>
            <a:ext cx="4724397" cy="2062103"/>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Female customers account for </a:t>
            </a:r>
            <a:r>
              <a:rPr lang="en-US" b="1" dirty="0"/>
              <a:t>59.81%</a:t>
            </a:r>
            <a:r>
              <a:rPr lang="en-US" dirty="0"/>
              <a:t> of total customers.</a:t>
            </a:r>
          </a:p>
          <a:p>
            <a:pPr marL="285750" indent="-285750">
              <a:buFont typeface="Arial" panose="020B0604020202020204" pitchFamily="34" charset="0"/>
              <a:buChar char="•"/>
            </a:pPr>
            <a:r>
              <a:rPr lang="en-US" dirty="0"/>
              <a:t>Male customers account for </a:t>
            </a:r>
            <a:r>
              <a:rPr lang="en-US" b="1" dirty="0"/>
              <a:t>40.19%</a:t>
            </a:r>
            <a:r>
              <a:rPr lang="en-US" dirty="0"/>
              <a:t> of total customers.</a:t>
            </a:r>
          </a:p>
          <a:p>
            <a:pPr marL="285750" indent="-285750">
              <a:buFont typeface="Arial" panose="020B0604020202020204" pitchFamily="34" charset="0"/>
              <a:buChar char="•"/>
            </a:pPr>
            <a:r>
              <a:rPr lang="en-US" dirty="0"/>
              <a:t>Female customers form the majority of the customer base.</a:t>
            </a:r>
          </a:p>
        </p:txBody>
      </p:sp>
    </p:spTree>
    <p:extLst>
      <p:ext uri="{BB962C8B-B14F-4D97-AF65-F5344CB8AC3E}">
        <p14:creationId xmlns:p14="http://schemas.microsoft.com/office/powerpoint/2010/main" val="3875360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B40FD-337D-8499-4DED-054CEAEF7628}"/>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Products Sold By Gender</a:t>
            </a:r>
          </a:p>
        </p:txBody>
      </p:sp>
      <p:pic>
        <p:nvPicPr>
          <p:cNvPr id="9" name="Content Placeholder 8">
            <a:extLst>
              <a:ext uri="{FF2B5EF4-FFF2-40B4-BE49-F238E27FC236}">
                <a16:creationId xmlns:a16="http://schemas.microsoft.com/office/drawing/2014/main" id="{9246AAD6-1F96-FBD9-4543-4B82A6905B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599" y="1351492"/>
            <a:ext cx="5570371" cy="3779308"/>
          </a:xfrm>
          <a:prstGeom prst="rect">
            <a:avLst/>
          </a:prstGeom>
        </p:spPr>
      </p:pic>
      <p:sp>
        <p:nvSpPr>
          <p:cNvPr id="10" name="TextBox 9">
            <a:extLst>
              <a:ext uri="{FF2B5EF4-FFF2-40B4-BE49-F238E27FC236}">
                <a16:creationId xmlns:a16="http://schemas.microsoft.com/office/drawing/2014/main" id="{C162AF20-3852-0934-D5A4-C4C874CA0D89}"/>
              </a:ext>
            </a:extLst>
          </p:cNvPr>
          <p:cNvSpPr txBox="1"/>
          <p:nvPr/>
        </p:nvSpPr>
        <p:spPr>
          <a:xfrm>
            <a:off x="6256868" y="1524000"/>
            <a:ext cx="4309533" cy="2062103"/>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Female customers purchased </a:t>
            </a:r>
            <a:r>
              <a:rPr lang="en-US" b="1" dirty="0"/>
              <a:t>178,659</a:t>
            </a:r>
            <a:r>
              <a:rPr lang="en-US" dirty="0"/>
              <a:t> products.</a:t>
            </a:r>
          </a:p>
          <a:p>
            <a:pPr marL="285750" indent="-285750">
              <a:buFont typeface="Arial" panose="020B0604020202020204" pitchFamily="34" charset="0"/>
              <a:buChar char="•"/>
            </a:pPr>
            <a:r>
              <a:rPr lang="en-US" dirty="0"/>
              <a:t>Male customers purchased </a:t>
            </a:r>
            <a:r>
              <a:rPr lang="en-US" b="1" dirty="0"/>
              <a:t>120,053</a:t>
            </a:r>
            <a:r>
              <a:rPr lang="en-US" dirty="0"/>
              <a:t> products.</a:t>
            </a:r>
          </a:p>
          <a:p>
            <a:pPr marL="285750" indent="-285750">
              <a:buFont typeface="Arial" panose="020B0604020202020204" pitchFamily="34" charset="0"/>
              <a:buChar char="•"/>
            </a:pPr>
            <a:r>
              <a:rPr lang="en-US" dirty="0"/>
              <a:t>Female customers purchased significantly more products than male customers.</a:t>
            </a:r>
          </a:p>
        </p:txBody>
      </p:sp>
    </p:spTree>
    <p:extLst>
      <p:ext uri="{BB962C8B-B14F-4D97-AF65-F5344CB8AC3E}">
        <p14:creationId xmlns:p14="http://schemas.microsoft.com/office/powerpoint/2010/main" val="3408551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CE04-FD77-F01B-F345-3AECDDEC0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A8E43-6AFD-68D4-CED0-4BFCDAABCB63}"/>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Revenue Generated By Gender</a:t>
            </a:r>
          </a:p>
        </p:txBody>
      </p:sp>
      <p:pic>
        <p:nvPicPr>
          <p:cNvPr id="9" name="Content Placeholder 8">
            <a:extLst>
              <a:ext uri="{FF2B5EF4-FFF2-40B4-BE49-F238E27FC236}">
                <a16:creationId xmlns:a16="http://schemas.microsoft.com/office/drawing/2014/main" id="{34744D17-026A-058A-F0B9-28DF2AE8CF0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2599" y="1351492"/>
            <a:ext cx="5570371" cy="3779308"/>
          </a:xfrm>
          <a:prstGeom prst="rect">
            <a:avLst/>
          </a:prstGeom>
        </p:spPr>
      </p:pic>
      <p:sp>
        <p:nvSpPr>
          <p:cNvPr id="10" name="TextBox 9">
            <a:extLst>
              <a:ext uri="{FF2B5EF4-FFF2-40B4-BE49-F238E27FC236}">
                <a16:creationId xmlns:a16="http://schemas.microsoft.com/office/drawing/2014/main" id="{EEA40F7D-E460-12DC-8A9B-4000A5134A31}"/>
              </a:ext>
            </a:extLst>
          </p:cNvPr>
          <p:cNvSpPr txBox="1"/>
          <p:nvPr/>
        </p:nvSpPr>
        <p:spPr>
          <a:xfrm>
            <a:off x="6256868" y="1524000"/>
            <a:ext cx="4309533" cy="2893100"/>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Female customers generated approximately </a:t>
            </a:r>
            <a:r>
              <a:rPr lang="en-US" b="1" dirty="0"/>
              <a:t>150M</a:t>
            </a:r>
            <a:r>
              <a:rPr lang="en-US" dirty="0"/>
              <a:t> in revenue.</a:t>
            </a:r>
          </a:p>
          <a:p>
            <a:pPr marL="285750" indent="-285750">
              <a:buFont typeface="Arial" panose="020B0604020202020204" pitchFamily="34" charset="0"/>
              <a:buChar char="•"/>
            </a:pPr>
            <a:r>
              <a:rPr lang="en-US" dirty="0"/>
              <a:t>Male customers generated approximately </a:t>
            </a:r>
            <a:r>
              <a:rPr lang="en-US" b="1" dirty="0"/>
              <a:t>101M</a:t>
            </a:r>
            <a:r>
              <a:rPr lang="en-US" dirty="0"/>
              <a:t> in revenue.</a:t>
            </a:r>
          </a:p>
          <a:p>
            <a:pPr marL="285750" indent="-285750">
              <a:buFont typeface="Arial" panose="020B0604020202020204" pitchFamily="34" charset="0"/>
              <a:buChar char="•"/>
            </a:pPr>
            <a:r>
              <a:rPr lang="en-US" dirty="0"/>
              <a:t>Female customers contributed significantly more revenue than male customers.</a:t>
            </a:r>
          </a:p>
          <a:p>
            <a:pPr marL="285750" indent="-285750">
              <a:buFont typeface="Arial" panose="020B0604020202020204" pitchFamily="34" charset="0"/>
              <a:buChar char="•"/>
            </a:pPr>
            <a:r>
              <a:rPr lang="en-US" dirty="0"/>
              <a:t>This indicates that female customers have a higher overall purchasing value.</a:t>
            </a:r>
          </a:p>
        </p:txBody>
      </p:sp>
    </p:spTree>
    <p:extLst>
      <p:ext uri="{BB962C8B-B14F-4D97-AF65-F5344CB8AC3E}">
        <p14:creationId xmlns:p14="http://schemas.microsoft.com/office/powerpoint/2010/main" val="3920362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23E8-085E-30A9-CDF9-C01F896D4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7AE1E-9336-187C-41B9-363A5EC6174E}"/>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Revenue Generated By Gender And Category</a:t>
            </a:r>
          </a:p>
        </p:txBody>
      </p:sp>
      <p:pic>
        <p:nvPicPr>
          <p:cNvPr id="9" name="Content Placeholder 8">
            <a:extLst>
              <a:ext uri="{FF2B5EF4-FFF2-40B4-BE49-F238E27FC236}">
                <a16:creationId xmlns:a16="http://schemas.microsoft.com/office/drawing/2014/main" id="{65369E4D-7C67-38E2-973F-71A00177614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2599" y="1351492"/>
            <a:ext cx="5570371" cy="3779308"/>
          </a:xfrm>
          <a:prstGeom prst="rect">
            <a:avLst/>
          </a:prstGeom>
        </p:spPr>
      </p:pic>
      <p:sp>
        <p:nvSpPr>
          <p:cNvPr id="10" name="TextBox 9">
            <a:extLst>
              <a:ext uri="{FF2B5EF4-FFF2-40B4-BE49-F238E27FC236}">
                <a16:creationId xmlns:a16="http://schemas.microsoft.com/office/drawing/2014/main" id="{1C6C99D8-E6DA-26F3-1093-CE25E04CC06A}"/>
              </a:ext>
            </a:extLst>
          </p:cNvPr>
          <p:cNvSpPr txBox="1"/>
          <p:nvPr/>
        </p:nvSpPr>
        <p:spPr>
          <a:xfrm>
            <a:off x="6256868" y="1524000"/>
            <a:ext cx="4309533" cy="3170099"/>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Clothing generated the highest revenue for both male and female customers.</a:t>
            </a:r>
          </a:p>
          <a:p>
            <a:pPr marL="285750" indent="-285750">
              <a:buFont typeface="Arial" panose="020B0604020202020204" pitchFamily="34" charset="0"/>
              <a:buChar char="•"/>
            </a:pPr>
            <a:r>
              <a:rPr lang="en-US" dirty="0"/>
              <a:t>Female customers generated higher revenue than male customers across all product categories.</a:t>
            </a:r>
          </a:p>
          <a:p>
            <a:pPr marL="285750" indent="-285750">
              <a:buFont typeface="Arial" panose="020B0604020202020204" pitchFamily="34" charset="0"/>
              <a:buChar char="•"/>
            </a:pPr>
            <a:r>
              <a:rPr lang="en-US" dirty="0"/>
              <a:t>Shoes and Technology were the second and third highest revenue-generating categories.</a:t>
            </a:r>
          </a:p>
          <a:p>
            <a:pPr marL="285750" indent="-285750">
              <a:buFont typeface="Arial" panose="020B0604020202020204" pitchFamily="34" charset="0"/>
              <a:buChar char="•"/>
            </a:pPr>
            <a:r>
              <a:rPr lang="en-US" dirty="0"/>
              <a:t>Books, Souvenirs, and Food &amp; Beverage contributed the least revenue.</a:t>
            </a:r>
          </a:p>
        </p:txBody>
      </p:sp>
    </p:spTree>
    <p:extLst>
      <p:ext uri="{BB962C8B-B14F-4D97-AF65-F5344CB8AC3E}">
        <p14:creationId xmlns:p14="http://schemas.microsoft.com/office/powerpoint/2010/main" val="299999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F67B0-E72C-E6B7-E4ED-964E210B1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743EF-4F69-3FEF-83EC-F962AE22F30F}"/>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Shopping Distribution By Gender</a:t>
            </a:r>
          </a:p>
        </p:txBody>
      </p:sp>
      <p:pic>
        <p:nvPicPr>
          <p:cNvPr id="9" name="Content Placeholder 8">
            <a:extLst>
              <a:ext uri="{FF2B5EF4-FFF2-40B4-BE49-F238E27FC236}">
                <a16:creationId xmlns:a16="http://schemas.microsoft.com/office/drawing/2014/main" id="{CFE9090B-B62E-98BA-99FA-42CAF50F6F8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2599" y="1351492"/>
            <a:ext cx="5570371" cy="3779308"/>
          </a:xfrm>
          <a:prstGeom prst="rect">
            <a:avLst/>
          </a:prstGeom>
        </p:spPr>
      </p:pic>
      <p:sp>
        <p:nvSpPr>
          <p:cNvPr id="10" name="TextBox 9">
            <a:extLst>
              <a:ext uri="{FF2B5EF4-FFF2-40B4-BE49-F238E27FC236}">
                <a16:creationId xmlns:a16="http://schemas.microsoft.com/office/drawing/2014/main" id="{34CE4725-A175-B9C6-6CC1-C61173045EDF}"/>
              </a:ext>
            </a:extLst>
          </p:cNvPr>
          <p:cNvSpPr txBox="1"/>
          <p:nvPr/>
        </p:nvSpPr>
        <p:spPr>
          <a:xfrm>
            <a:off x="6256868" y="1524000"/>
            <a:ext cx="4309533" cy="3416320"/>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Customers aged </a:t>
            </a:r>
            <a:r>
              <a:rPr lang="en-US" b="1" dirty="0"/>
              <a:t>36–45</a:t>
            </a:r>
            <a:r>
              <a:rPr lang="en-US" dirty="0"/>
              <a:t> recorded the highest number of shopping transactions </a:t>
            </a:r>
            <a:r>
              <a:rPr lang="en-US" b="1" dirty="0"/>
              <a:t>(19,436).</a:t>
            </a:r>
          </a:p>
          <a:p>
            <a:pPr marL="285750" indent="-285750">
              <a:buFont typeface="Arial" panose="020B0604020202020204" pitchFamily="34" charset="0"/>
              <a:buChar char="•"/>
            </a:pPr>
            <a:r>
              <a:rPr lang="en-US" dirty="0"/>
              <a:t>The </a:t>
            </a:r>
            <a:r>
              <a:rPr lang="en-US" b="1" dirty="0"/>
              <a:t>26–35</a:t>
            </a:r>
            <a:r>
              <a:rPr lang="en-US" dirty="0"/>
              <a:t>, </a:t>
            </a:r>
            <a:r>
              <a:rPr lang="en-US" b="1" dirty="0"/>
              <a:t>46–55</a:t>
            </a:r>
            <a:r>
              <a:rPr lang="en-US" dirty="0"/>
              <a:t>, and </a:t>
            </a:r>
            <a:r>
              <a:rPr lang="en-US" b="1" dirty="0"/>
              <a:t>56–65</a:t>
            </a:r>
            <a:r>
              <a:rPr lang="en-US" dirty="0"/>
              <a:t> age groups showed similar shopping activity (around </a:t>
            </a:r>
            <a:r>
              <a:rPr lang="en-US" b="1" dirty="0"/>
              <a:t>19,000</a:t>
            </a:r>
            <a:r>
              <a:rPr lang="en-US" dirty="0"/>
              <a:t> transactions each).</a:t>
            </a:r>
          </a:p>
          <a:p>
            <a:pPr marL="285750" indent="-285750">
              <a:buFont typeface="Arial" panose="020B0604020202020204" pitchFamily="34" charset="0"/>
              <a:buChar char="•"/>
            </a:pPr>
            <a:r>
              <a:rPr lang="en-US" dirty="0"/>
              <a:t>Customers aged </a:t>
            </a:r>
            <a:r>
              <a:rPr lang="en-US" b="1" dirty="0"/>
              <a:t>65+</a:t>
            </a:r>
            <a:r>
              <a:rPr lang="en-US" dirty="0"/>
              <a:t> recorded the lowest number of shopping transactions </a:t>
            </a:r>
            <a:r>
              <a:rPr lang="en-US" b="1" dirty="0"/>
              <a:t>(7,571).</a:t>
            </a:r>
          </a:p>
          <a:p>
            <a:pPr marL="285750" indent="-285750">
              <a:buFont typeface="Arial" panose="020B0604020202020204" pitchFamily="34" charset="0"/>
              <a:buChar char="•"/>
            </a:pPr>
            <a:r>
              <a:rPr lang="en-US" dirty="0"/>
              <a:t>Shopping activity is highest among customers aged </a:t>
            </a:r>
            <a:r>
              <a:rPr lang="en-US" b="1" dirty="0"/>
              <a:t>26–65.</a:t>
            </a:r>
          </a:p>
        </p:txBody>
      </p:sp>
    </p:spTree>
    <p:extLst>
      <p:ext uri="{BB962C8B-B14F-4D97-AF65-F5344CB8AC3E}">
        <p14:creationId xmlns:p14="http://schemas.microsoft.com/office/powerpoint/2010/main" val="3370109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885B-1E9B-2D26-D3E7-852F50175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7068D-86D6-6DC3-51D1-EA47A8124A2D}"/>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Products Sold By Age Group</a:t>
            </a:r>
          </a:p>
        </p:txBody>
      </p:sp>
      <p:pic>
        <p:nvPicPr>
          <p:cNvPr id="9" name="Content Placeholder 8">
            <a:extLst>
              <a:ext uri="{FF2B5EF4-FFF2-40B4-BE49-F238E27FC236}">
                <a16:creationId xmlns:a16="http://schemas.microsoft.com/office/drawing/2014/main" id="{A48319E7-55A0-AC75-FC61-F70B08A862A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2599" y="1351492"/>
            <a:ext cx="5570371" cy="3779308"/>
          </a:xfrm>
          <a:prstGeom prst="rect">
            <a:avLst/>
          </a:prstGeom>
        </p:spPr>
      </p:pic>
      <p:sp>
        <p:nvSpPr>
          <p:cNvPr id="10" name="TextBox 9">
            <a:extLst>
              <a:ext uri="{FF2B5EF4-FFF2-40B4-BE49-F238E27FC236}">
                <a16:creationId xmlns:a16="http://schemas.microsoft.com/office/drawing/2014/main" id="{F5C97380-1158-27E5-CD3D-66739803746E}"/>
              </a:ext>
            </a:extLst>
          </p:cNvPr>
          <p:cNvSpPr txBox="1"/>
          <p:nvPr/>
        </p:nvSpPr>
        <p:spPr>
          <a:xfrm>
            <a:off x="6248402" y="1439333"/>
            <a:ext cx="4453465" cy="2893100"/>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Customers aged </a:t>
            </a:r>
            <a:r>
              <a:rPr lang="en-US" b="1" dirty="0"/>
              <a:t>36–45 </a:t>
            </a:r>
            <a:r>
              <a:rPr lang="en-US" dirty="0"/>
              <a:t>purchased the highest number of products (</a:t>
            </a:r>
            <a:r>
              <a:rPr lang="en-US" b="1" dirty="0"/>
              <a:t>58,483</a:t>
            </a:r>
            <a:r>
              <a:rPr lang="en-US" dirty="0"/>
              <a:t>).</a:t>
            </a:r>
          </a:p>
          <a:p>
            <a:pPr marL="285750" indent="-285750">
              <a:buFont typeface="Arial" panose="020B0604020202020204" pitchFamily="34" charset="0"/>
              <a:buChar char="•"/>
            </a:pPr>
            <a:r>
              <a:rPr lang="en-US" dirty="0"/>
              <a:t>The </a:t>
            </a:r>
            <a:r>
              <a:rPr lang="en-US" b="1" dirty="0"/>
              <a:t>26–35,</a:t>
            </a:r>
            <a:r>
              <a:rPr lang="en-US" dirty="0"/>
              <a:t> </a:t>
            </a:r>
            <a:r>
              <a:rPr lang="en-US" b="1" dirty="0"/>
              <a:t>46–55</a:t>
            </a:r>
            <a:r>
              <a:rPr lang="en-US" dirty="0"/>
              <a:t>, and </a:t>
            </a:r>
            <a:r>
              <a:rPr lang="en-US" b="1" dirty="0"/>
              <a:t>56–65</a:t>
            </a:r>
            <a:r>
              <a:rPr lang="en-US" dirty="0"/>
              <a:t> age groups also contributed significantly to product sales (around </a:t>
            </a:r>
            <a:r>
              <a:rPr lang="en-US" b="1" dirty="0"/>
              <a:t>57,000</a:t>
            </a:r>
            <a:r>
              <a:rPr lang="en-US" dirty="0"/>
              <a:t> products each).</a:t>
            </a:r>
          </a:p>
          <a:p>
            <a:pPr marL="285750" indent="-285750">
              <a:buFont typeface="Arial" panose="020B0604020202020204" pitchFamily="34" charset="0"/>
              <a:buChar char="•"/>
            </a:pPr>
            <a:r>
              <a:rPr lang="en-US" dirty="0"/>
              <a:t>Customers aged 65+ purchased the fewest products (</a:t>
            </a:r>
            <a:r>
              <a:rPr lang="en-US" b="1" dirty="0"/>
              <a:t>22,785</a:t>
            </a:r>
            <a:r>
              <a:rPr lang="en-US" dirty="0"/>
              <a:t>).</a:t>
            </a:r>
          </a:p>
          <a:p>
            <a:pPr marL="285750" indent="-285750">
              <a:buFont typeface="Arial" panose="020B0604020202020204" pitchFamily="34" charset="0"/>
              <a:buChar char="•"/>
            </a:pPr>
            <a:r>
              <a:rPr lang="en-US" dirty="0"/>
              <a:t>The majority of product sales came from customers between</a:t>
            </a:r>
            <a:r>
              <a:rPr lang="en-US" b="1" dirty="0"/>
              <a:t> 26 </a:t>
            </a:r>
            <a:r>
              <a:rPr lang="en-US" dirty="0"/>
              <a:t>and </a:t>
            </a:r>
            <a:r>
              <a:rPr lang="en-US" b="1" dirty="0"/>
              <a:t>65</a:t>
            </a:r>
            <a:r>
              <a:rPr lang="en-US" dirty="0"/>
              <a:t> years.</a:t>
            </a:r>
          </a:p>
        </p:txBody>
      </p:sp>
    </p:spTree>
    <p:extLst>
      <p:ext uri="{BB962C8B-B14F-4D97-AF65-F5344CB8AC3E}">
        <p14:creationId xmlns:p14="http://schemas.microsoft.com/office/powerpoint/2010/main" val="44997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3587-1F36-0888-DA30-8A7364497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1311B-47B1-9554-40DA-A6BC7B47A60A}"/>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Revenue Generated By Age Group</a:t>
            </a:r>
          </a:p>
        </p:txBody>
      </p:sp>
      <p:pic>
        <p:nvPicPr>
          <p:cNvPr id="9" name="Content Placeholder 8">
            <a:extLst>
              <a:ext uri="{FF2B5EF4-FFF2-40B4-BE49-F238E27FC236}">
                <a16:creationId xmlns:a16="http://schemas.microsoft.com/office/drawing/2014/main" id="{26A29E28-8F83-5303-AE32-6597F8DDFB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2599" y="1351492"/>
            <a:ext cx="5570371" cy="3779308"/>
          </a:xfrm>
          <a:prstGeom prst="rect">
            <a:avLst/>
          </a:prstGeom>
        </p:spPr>
      </p:pic>
      <p:sp>
        <p:nvSpPr>
          <p:cNvPr id="10" name="TextBox 9">
            <a:extLst>
              <a:ext uri="{FF2B5EF4-FFF2-40B4-BE49-F238E27FC236}">
                <a16:creationId xmlns:a16="http://schemas.microsoft.com/office/drawing/2014/main" id="{6B4EB73A-15B6-84A3-3EC8-C5A6FE0ED6AF}"/>
              </a:ext>
            </a:extLst>
          </p:cNvPr>
          <p:cNvSpPr txBox="1"/>
          <p:nvPr/>
        </p:nvSpPr>
        <p:spPr>
          <a:xfrm>
            <a:off x="6248402" y="1439333"/>
            <a:ext cx="4453465" cy="2893100"/>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Customers aged </a:t>
            </a:r>
            <a:r>
              <a:rPr lang="en-US" b="1" dirty="0"/>
              <a:t>36–45</a:t>
            </a:r>
            <a:r>
              <a:rPr lang="en-US" dirty="0"/>
              <a:t> generated the highest revenue (</a:t>
            </a:r>
            <a:r>
              <a:rPr lang="en-US" b="1" dirty="0"/>
              <a:t>50M</a:t>
            </a:r>
            <a:r>
              <a:rPr lang="en-US" dirty="0"/>
              <a:t>)</a:t>
            </a:r>
          </a:p>
          <a:p>
            <a:pPr marL="285750" indent="-285750">
              <a:buFont typeface="Arial" panose="020B0604020202020204" pitchFamily="34" charset="0"/>
              <a:buChar char="•"/>
            </a:pPr>
            <a:r>
              <a:rPr lang="en-US" dirty="0"/>
              <a:t>.The </a:t>
            </a:r>
            <a:r>
              <a:rPr lang="en-US" b="1" dirty="0"/>
              <a:t>26–35</a:t>
            </a:r>
            <a:r>
              <a:rPr lang="en-US" dirty="0"/>
              <a:t>, </a:t>
            </a:r>
            <a:r>
              <a:rPr lang="en-US" b="1" dirty="0"/>
              <a:t>46–55</a:t>
            </a:r>
            <a:r>
              <a:rPr lang="en-US" dirty="0"/>
              <a:t>, and </a:t>
            </a:r>
            <a:r>
              <a:rPr lang="en-US" b="1" dirty="0"/>
              <a:t>56–65</a:t>
            </a:r>
            <a:r>
              <a:rPr lang="en-US" dirty="0"/>
              <a:t> age groups each generated approximately </a:t>
            </a:r>
            <a:r>
              <a:rPr lang="en-US" b="1" dirty="0"/>
              <a:t>48M</a:t>
            </a:r>
            <a:r>
              <a:rPr lang="en-US" dirty="0"/>
              <a:t> in revenue.</a:t>
            </a:r>
          </a:p>
          <a:p>
            <a:pPr marL="285750" indent="-285750">
              <a:buFont typeface="Arial" panose="020B0604020202020204" pitchFamily="34" charset="0"/>
              <a:buChar char="•"/>
            </a:pPr>
            <a:r>
              <a:rPr lang="en-US" dirty="0"/>
              <a:t>Customers aged </a:t>
            </a:r>
            <a:r>
              <a:rPr lang="en-US" b="1" dirty="0"/>
              <a:t>65+ </a:t>
            </a:r>
            <a:r>
              <a:rPr lang="en-US" dirty="0"/>
              <a:t>generated the lowest revenue (</a:t>
            </a:r>
            <a:r>
              <a:rPr lang="en-US" b="1" dirty="0"/>
              <a:t>19M</a:t>
            </a:r>
            <a:r>
              <a:rPr lang="en-US" dirty="0"/>
              <a:t>).</a:t>
            </a:r>
          </a:p>
          <a:p>
            <a:pPr marL="285750" indent="-285750">
              <a:buFont typeface="Arial" panose="020B0604020202020204" pitchFamily="34" charset="0"/>
              <a:buChar char="•"/>
            </a:pPr>
            <a:r>
              <a:rPr lang="en-US" dirty="0"/>
              <a:t>The </a:t>
            </a:r>
            <a:r>
              <a:rPr lang="en-US" b="1" dirty="0"/>
              <a:t>26–65</a:t>
            </a:r>
            <a:r>
              <a:rPr lang="en-US" dirty="0"/>
              <a:t> age group contributes the majority of total revenue.</a:t>
            </a:r>
          </a:p>
        </p:txBody>
      </p:sp>
    </p:spTree>
    <p:extLst>
      <p:ext uri="{BB962C8B-B14F-4D97-AF65-F5344CB8AC3E}">
        <p14:creationId xmlns:p14="http://schemas.microsoft.com/office/powerpoint/2010/main" val="279837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D856C-4D88-53AF-F4A6-568AB9803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B9E19-ACE9-1E27-7E4E-BA105B3C55A4}"/>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Products Sold By Category And Gender</a:t>
            </a:r>
          </a:p>
        </p:txBody>
      </p:sp>
      <p:pic>
        <p:nvPicPr>
          <p:cNvPr id="9" name="Content Placeholder 8">
            <a:extLst>
              <a:ext uri="{FF2B5EF4-FFF2-40B4-BE49-F238E27FC236}">
                <a16:creationId xmlns:a16="http://schemas.microsoft.com/office/drawing/2014/main" id="{12B48D8B-52F7-40FF-DFCB-4D6E9F8A75E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2599" y="1351491"/>
            <a:ext cx="5720122" cy="3880909"/>
          </a:xfrm>
          <a:prstGeom prst="rect">
            <a:avLst/>
          </a:prstGeom>
        </p:spPr>
      </p:pic>
      <p:sp>
        <p:nvSpPr>
          <p:cNvPr id="10" name="TextBox 9">
            <a:extLst>
              <a:ext uri="{FF2B5EF4-FFF2-40B4-BE49-F238E27FC236}">
                <a16:creationId xmlns:a16="http://schemas.microsoft.com/office/drawing/2014/main" id="{1911CB85-1F30-B77A-05EC-FE33D65302D6}"/>
              </a:ext>
            </a:extLst>
          </p:cNvPr>
          <p:cNvSpPr txBox="1"/>
          <p:nvPr/>
        </p:nvSpPr>
        <p:spPr>
          <a:xfrm>
            <a:off x="6231469" y="1413933"/>
            <a:ext cx="4656664" cy="4247317"/>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Clothing is the highest-selling category for both females (</a:t>
            </a:r>
            <a:r>
              <a:rPr lang="en-US" b="1" dirty="0"/>
              <a:t>62,039</a:t>
            </a:r>
            <a:r>
              <a:rPr lang="en-US" dirty="0"/>
              <a:t>) and males (</a:t>
            </a:r>
            <a:r>
              <a:rPr lang="en-US" b="1" dirty="0"/>
              <a:t>41,519</a:t>
            </a:r>
            <a:r>
              <a:rPr lang="en-US" dirty="0"/>
              <a:t>).</a:t>
            </a:r>
          </a:p>
          <a:p>
            <a:pPr marL="285750" indent="-285750">
              <a:buFont typeface="Arial" panose="020B0604020202020204" pitchFamily="34" charset="0"/>
              <a:buChar char="•"/>
            </a:pPr>
            <a:r>
              <a:rPr lang="en-US" dirty="0"/>
              <a:t>Female customers purchased more products than male customers across all product categories</a:t>
            </a:r>
          </a:p>
          <a:p>
            <a:pPr marL="285750" indent="-285750">
              <a:buFont typeface="Arial" panose="020B0604020202020204" pitchFamily="34" charset="0"/>
              <a:buChar char="•"/>
            </a:pPr>
            <a:r>
              <a:rPr lang="en-US" dirty="0"/>
              <a:t>Cosmetics and Food &amp; Beverage are the next most purchased categories after Clothing.</a:t>
            </a:r>
          </a:p>
          <a:p>
            <a:pPr marL="285750" indent="-285750">
              <a:buFont typeface="Arial" panose="020B0604020202020204" pitchFamily="34" charset="0"/>
              <a:buChar char="•"/>
            </a:pPr>
            <a:r>
              <a:rPr lang="en-US" dirty="0"/>
              <a:t>Technology, Books, and Souvenirs recorded the lowest product sales.</a:t>
            </a:r>
          </a:p>
          <a:p>
            <a:pPr marL="285750" indent="-285750">
              <a:buFont typeface="Arial" panose="020B0604020202020204" pitchFamily="34" charset="0"/>
              <a:buChar char="•"/>
            </a:pPr>
            <a:r>
              <a:rPr lang="en-US" dirty="0"/>
              <a:t>Clothing should remain a key focus category, while lower-performing categories may require targeted promotions to increase sales</a:t>
            </a:r>
          </a:p>
        </p:txBody>
      </p:sp>
    </p:spTree>
    <p:extLst>
      <p:ext uri="{BB962C8B-B14F-4D97-AF65-F5344CB8AC3E}">
        <p14:creationId xmlns:p14="http://schemas.microsoft.com/office/powerpoint/2010/main" val="1218401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1E755-1BE9-D98C-F912-121F3E2E6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A427C-BF16-F1A5-6984-EF8C2DADB211}"/>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Products Sold By Payment And Age Group</a:t>
            </a:r>
          </a:p>
        </p:txBody>
      </p:sp>
      <p:pic>
        <p:nvPicPr>
          <p:cNvPr id="9" name="Content Placeholder 8">
            <a:extLst>
              <a:ext uri="{FF2B5EF4-FFF2-40B4-BE49-F238E27FC236}">
                <a16:creationId xmlns:a16="http://schemas.microsoft.com/office/drawing/2014/main" id="{F2390A7E-739F-09CB-8B0B-94A7A1C1709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47133" y="1351491"/>
            <a:ext cx="5884336" cy="3899962"/>
          </a:xfrm>
          <a:prstGeom prst="rect">
            <a:avLst/>
          </a:prstGeom>
        </p:spPr>
      </p:pic>
      <p:sp>
        <p:nvSpPr>
          <p:cNvPr id="10" name="TextBox 9">
            <a:extLst>
              <a:ext uri="{FF2B5EF4-FFF2-40B4-BE49-F238E27FC236}">
                <a16:creationId xmlns:a16="http://schemas.microsoft.com/office/drawing/2014/main" id="{5E2B208C-0399-B603-6068-A63A07276D3B}"/>
              </a:ext>
            </a:extLst>
          </p:cNvPr>
          <p:cNvSpPr txBox="1"/>
          <p:nvPr/>
        </p:nvSpPr>
        <p:spPr>
          <a:xfrm>
            <a:off x="6324603" y="1532466"/>
            <a:ext cx="4656664" cy="3416320"/>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Cash is the most preferred payment method across all age groups.</a:t>
            </a:r>
          </a:p>
          <a:p>
            <a:pPr marL="285750" indent="-285750">
              <a:buFont typeface="Arial" panose="020B0604020202020204" pitchFamily="34" charset="0"/>
              <a:buChar char="•"/>
            </a:pPr>
            <a:r>
              <a:rPr lang="en-US" dirty="0"/>
              <a:t>Customers aged </a:t>
            </a:r>
            <a:r>
              <a:rPr lang="en-US" b="1" dirty="0"/>
              <a:t>36–45</a:t>
            </a:r>
            <a:r>
              <a:rPr lang="en-US" dirty="0"/>
              <a:t> recorded the highest number of cash purchases (</a:t>
            </a:r>
            <a:r>
              <a:rPr lang="en-US" b="1" dirty="0"/>
              <a:t>26.1K</a:t>
            </a:r>
            <a:r>
              <a:rPr lang="en-US" dirty="0"/>
              <a:t>).</a:t>
            </a:r>
          </a:p>
          <a:p>
            <a:pPr marL="285750" indent="-285750">
              <a:buFont typeface="Arial" panose="020B0604020202020204" pitchFamily="34" charset="0"/>
              <a:buChar char="•"/>
            </a:pPr>
            <a:r>
              <a:rPr lang="en-US" dirty="0"/>
              <a:t>Credit Card is the second most preferred payment method across all age groups.</a:t>
            </a:r>
          </a:p>
          <a:p>
            <a:pPr marL="285750" indent="-285750">
              <a:buFont typeface="Arial" panose="020B0604020202020204" pitchFamily="34" charset="0"/>
              <a:buChar char="•"/>
            </a:pPr>
            <a:r>
              <a:rPr lang="en-US" dirty="0"/>
              <a:t>Debit Card is the least used payment method overall.</a:t>
            </a:r>
          </a:p>
          <a:p>
            <a:pPr marL="285750" indent="-285750">
              <a:buFont typeface="Arial" panose="020B0604020202020204" pitchFamily="34" charset="0"/>
              <a:buChar char="•"/>
            </a:pPr>
            <a:r>
              <a:rPr lang="en-US" dirty="0"/>
              <a:t>Customers aged </a:t>
            </a:r>
            <a:r>
              <a:rPr lang="en-US" b="1" dirty="0"/>
              <a:t>65+</a:t>
            </a:r>
            <a:r>
              <a:rPr lang="en-US" dirty="0"/>
              <a:t> recorded the lowest number of purchases across all payment methods.</a:t>
            </a:r>
          </a:p>
        </p:txBody>
      </p:sp>
    </p:spTree>
    <p:extLst>
      <p:ext uri="{BB962C8B-B14F-4D97-AF65-F5344CB8AC3E}">
        <p14:creationId xmlns:p14="http://schemas.microsoft.com/office/powerpoint/2010/main" val="3689516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574E2-FE6F-D656-6CF1-D5FDBA3DF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A1EB5-9E5A-63E8-8E97-92161F38015E}"/>
              </a:ext>
            </a:extLst>
          </p:cNvPr>
          <p:cNvSpPr>
            <a:spLocks noGrp="1"/>
          </p:cNvSpPr>
          <p:nvPr>
            <p:ph type="title"/>
          </p:nvPr>
        </p:nvSpPr>
        <p:spPr>
          <a:xfrm>
            <a:off x="482599" y="312759"/>
            <a:ext cx="11057467" cy="542375"/>
          </a:xfrm>
        </p:spPr>
        <p:txBody>
          <a:bodyPr>
            <a:noAutofit/>
          </a:bodyPr>
          <a:lstStyle/>
          <a:p>
            <a:r>
              <a:rPr lang="en-US" sz="2400" b="1" cap="none" dirty="0">
                <a:latin typeface="Arial Black" panose="020B0A04020102020204" pitchFamily="34" charset="0"/>
              </a:rPr>
              <a:t>Payment Method Distribution</a:t>
            </a:r>
          </a:p>
        </p:txBody>
      </p:sp>
      <p:pic>
        <p:nvPicPr>
          <p:cNvPr id="9" name="Content Placeholder 8">
            <a:extLst>
              <a:ext uri="{FF2B5EF4-FFF2-40B4-BE49-F238E27FC236}">
                <a16:creationId xmlns:a16="http://schemas.microsoft.com/office/drawing/2014/main" id="{5286953D-A47C-D9F8-9F4C-CC04DC85AD6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609599" y="1175581"/>
            <a:ext cx="5003804" cy="4506838"/>
          </a:xfrm>
          <a:prstGeom prst="rect">
            <a:avLst/>
          </a:prstGeom>
        </p:spPr>
      </p:pic>
      <p:sp>
        <p:nvSpPr>
          <p:cNvPr id="10" name="TextBox 9">
            <a:extLst>
              <a:ext uri="{FF2B5EF4-FFF2-40B4-BE49-F238E27FC236}">
                <a16:creationId xmlns:a16="http://schemas.microsoft.com/office/drawing/2014/main" id="{BA595783-1797-21ED-3804-A32A9D389649}"/>
              </a:ext>
            </a:extLst>
          </p:cNvPr>
          <p:cNvSpPr txBox="1"/>
          <p:nvPr/>
        </p:nvSpPr>
        <p:spPr>
          <a:xfrm>
            <a:off x="5867403" y="1507066"/>
            <a:ext cx="4656664" cy="3970318"/>
          </a:xfrm>
          <a:prstGeom prst="rect">
            <a:avLst/>
          </a:prstGeom>
          <a:noFill/>
        </p:spPr>
        <p:txBody>
          <a:bodyPr wrap="square" rtlCol="0">
            <a:spAutoFit/>
          </a:bodyPr>
          <a:lstStyle/>
          <a:p>
            <a:r>
              <a:rPr lang="en-US" sz="2000" b="1" dirty="0">
                <a:latin typeface="Arial Black" panose="020B0A04020102020204" pitchFamily="34" charset="0"/>
              </a:rPr>
              <a:t>Insights:</a:t>
            </a:r>
          </a:p>
          <a:p>
            <a:pPr marL="285750" indent="-285750">
              <a:buFont typeface="Arial" panose="020B0604020202020204" pitchFamily="34" charset="0"/>
              <a:buChar char="•"/>
            </a:pPr>
            <a:r>
              <a:rPr lang="en-US" dirty="0"/>
              <a:t>Cash is the most frequently used payment method, accounting for </a:t>
            </a:r>
            <a:r>
              <a:rPr lang="en-US" b="1" dirty="0"/>
              <a:t>44.69% (44.45K) </a:t>
            </a:r>
            <a:r>
              <a:rPr lang="en-US" dirty="0"/>
              <a:t>of all transactions</a:t>
            </a:r>
          </a:p>
          <a:p>
            <a:pPr marL="285750" indent="-285750">
              <a:buFont typeface="Arial" panose="020B0604020202020204" pitchFamily="34" charset="0"/>
              <a:buChar char="•"/>
            </a:pPr>
            <a:r>
              <a:rPr lang="en-US" dirty="0"/>
              <a:t>Credit Card accounts for </a:t>
            </a:r>
            <a:r>
              <a:rPr lang="en-US" b="1" dirty="0"/>
              <a:t>35.12% (34.93K)</a:t>
            </a:r>
            <a:r>
              <a:rPr lang="en-US" dirty="0"/>
              <a:t> of total transactions.</a:t>
            </a:r>
          </a:p>
          <a:p>
            <a:pPr marL="285750" indent="-285750">
              <a:buFont typeface="Arial" panose="020B0604020202020204" pitchFamily="34" charset="0"/>
              <a:buChar char="•"/>
            </a:pPr>
            <a:r>
              <a:rPr lang="en-US" dirty="0"/>
              <a:t>Debit Card is the least preferred payment method, contributing </a:t>
            </a:r>
            <a:r>
              <a:rPr lang="en-US" b="1" dirty="0"/>
              <a:t>20.19% (20.08K) </a:t>
            </a:r>
            <a:r>
              <a:rPr lang="en-US" dirty="0"/>
              <a:t>of transactions.</a:t>
            </a:r>
          </a:p>
          <a:p>
            <a:pPr marL="285750" indent="-285750">
              <a:buFont typeface="Arial" panose="020B0604020202020204" pitchFamily="34" charset="0"/>
              <a:buChar char="•"/>
            </a:pPr>
            <a:r>
              <a:rPr lang="en-US" dirty="0"/>
              <a:t>Customers show a clear preference for cash payments, followed by credit cards.</a:t>
            </a:r>
          </a:p>
          <a:p>
            <a:pPr marL="285750" indent="-285750">
              <a:buFont typeface="Arial" panose="020B0604020202020204" pitchFamily="34" charset="0"/>
              <a:buChar char="•"/>
            </a:pPr>
            <a:r>
              <a:rPr lang="en-US" dirty="0"/>
              <a:t>Businesses should continue supporting cash payments while promoting digital payment methods to increase adoption.</a:t>
            </a:r>
          </a:p>
        </p:txBody>
      </p:sp>
    </p:spTree>
    <p:extLst>
      <p:ext uri="{BB962C8B-B14F-4D97-AF65-F5344CB8AC3E}">
        <p14:creationId xmlns:p14="http://schemas.microsoft.com/office/powerpoint/2010/main" val="74284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EE155A-5095-FADF-0FC8-595BFE0AD3B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589" y="-8031"/>
            <a:ext cx="12318577" cy="6878871"/>
          </a:xfrm>
          <a:prstGeom prst="rect">
            <a:avLst/>
          </a:prstGeom>
        </p:spPr>
      </p:pic>
    </p:spTree>
    <p:extLst>
      <p:ext uri="{BB962C8B-B14F-4D97-AF65-F5344CB8AC3E}">
        <p14:creationId xmlns:p14="http://schemas.microsoft.com/office/powerpoint/2010/main" val="2383044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2ECE23-69B7-E831-77B2-665CD76C776F}"/>
              </a:ext>
            </a:extLst>
          </p:cNvPr>
          <p:cNvSpPr>
            <a:spLocks noGrp="1"/>
          </p:cNvSpPr>
          <p:nvPr>
            <p:ph idx="1"/>
          </p:nvPr>
        </p:nvSpPr>
        <p:spPr>
          <a:xfrm>
            <a:off x="440267" y="330199"/>
            <a:ext cx="11421533" cy="6002868"/>
          </a:xfrm>
        </p:spPr>
        <p:txBody>
          <a:bodyPr/>
          <a:lstStyle/>
          <a:p>
            <a:r>
              <a:rPr lang="en-US" sz="2000" b="1" dirty="0">
                <a:latin typeface="Arial Black" panose="020B0A04020102020204" pitchFamily="34" charset="0"/>
              </a:rPr>
              <a:t>Overall Insights:</a:t>
            </a:r>
          </a:p>
          <a:p>
            <a:r>
              <a:rPr lang="en-US" dirty="0"/>
              <a:t>Total revenue generated is </a:t>
            </a:r>
            <a:r>
              <a:rPr lang="en-US" b="1" dirty="0"/>
              <a:t>251.51M</a:t>
            </a:r>
            <a:r>
              <a:rPr lang="en-US" dirty="0"/>
              <a:t> from </a:t>
            </a:r>
            <a:r>
              <a:rPr lang="en-US" b="1" dirty="0"/>
              <a:t>99.46K</a:t>
            </a:r>
            <a:r>
              <a:rPr lang="en-US" dirty="0"/>
              <a:t> transactions.</a:t>
            </a:r>
          </a:p>
          <a:p>
            <a:r>
              <a:rPr lang="en-US" dirty="0"/>
              <a:t>Female customers contribute more revenue and purchase more products than male customers.</a:t>
            </a:r>
          </a:p>
          <a:p>
            <a:r>
              <a:rPr lang="en-US" dirty="0"/>
              <a:t>Clothing is the highest revenue-generating product category.</a:t>
            </a:r>
          </a:p>
          <a:p>
            <a:r>
              <a:rPr lang="en-US" dirty="0"/>
              <a:t>Customers aged </a:t>
            </a:r>
            <a:r>
              <a:rPr lang="en-US" b="1" dirty="0"/>
              <a:t>36–65</a:t>
            </a:r>
            <a:r>
              <a:rPr lang="en-US" dirty="0"/>
              <a:t> contribute the highest revenue and sales.</a:t>
            </a:r>
          </a:p>
          <a:p>
            <a:r>
              <a:rPr lang="en-US" dirty="0"/>
              <a:t>Cash is the most preferred payment method, followed by Credit Card.</a:t>
            </a:r>
          </a:p>
          <a:p>
            <a:r>
              <a:rPr lang="en-US" dirty="0"/>
              <a:t>Mall of Istanbul and Kanyon are the top-performing shopping malls.</a:t>
            </a:r>
          </a:p>
          <a:p>
            <a:endParaRPr lang="en-US" dirty="0"/>
          </a:p>
          <a:p>
            <a:pPr marL="0" indent="0">
              <a:buNone/>
            </a:pPr>
            <a:r>
              <a:rPr lang="en-US" sz="2000" b="1" dirty="0">
                <a:latin typeface="Arial Black" panose="020B0A04020102020204" pitchFamily="34" charset="0"/>
              </a:rPr>
              <a:t>Recommendations:</a:t>
            </a:r>
          </a:p>
          <a:p>
            <a:r>
              <a:rPr lang="en-US" dirty="0"/>
              <a:t>Increase inventory and promotions for Clothing and other high-performing categories.</a:t>
            </a:r>
          </a:p>
          <a:p>
            <a:r>
              <a:rPr lang="en-US" dirty="0"/>
              <a:t>Focus marketing campaigns on the 36–65 age group.</a:t>
            </a:r>
          </a:p>
          <a:p>
            <a:r>
              <a:rPr lang="en-US" dirty="0"/>
              <a:t>Continue supporting cash payments while encouraging digital payments through offers.</a:t>
            </a:r>
          </a:p>
          <a:p>
            <a:r>
              <a:rPr lang="en-US" dirty="0"/>
              <a:t>Improve promotions for lower-performing categories such as Books and Souvenirs.</a:t>
            </a:r>
          </a:p>
          <a:p>
            <a:r>
              <a:rPr lang="en-US" dirty="0"/>
              <a:t>Analyze successful malls and replicate their strategies in lower-performing locations.</a:t>
            </a:r>
          </a:p>
        </p:txBody>
      </p:sp>
    </p:spTree>
    <p:extLst>
      <p:ext uri="{BB962C8B-B14F-4D97-AF65-F5344CB8AC3E}">
        <p14:creationId xmlns:p14="http://schemas.microsoft.com/office/powerpoint/2010/main" val="144722744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348</TotalTime>
  <Words>909</Words>
  <Application>Microsoft Office PowerPoint</Application>
  <PresentationFormat>Widescreen</PresentationFormat>
  <Paragraphs>99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Gill Sans MT</vt:lpstr>
      <vt:lpstr>Wingdings</vt:lpstr>
      <vt:lpstr>Parcel</vt:lpstr>
      <vt:lpstr>Customer Data Analysis</vt:lpstr>
      <vt:lpstr>Project Objective:  This Project Aims To Analyze Retail Customer Transaction Data To Understand Customer Purchasing Behavior And Identify Business Insights. Using SQL And Power BI, The Data Was Analyzed To Evaluate Revenue Trends, Product Performance, Customer Demographics, And Payment Preferences.</vt:lpstr>
      <vt:lpstr>Dataset Overview:  Dataset Source: MySQL Database Total Records: 99,457 Transactions</vt:lpstr>
      <vt:lpstr>Shopping Distribution By Gender</vt:lpstr>
      <vt:lpstr>Products Sold By Gender</vt:lpstr>
      <vt:lpstr>Revenue Generated By Gender</vt:lpstr>
      <vt:lpstr>Revenue Generated By Gender And Category</vt:lpstr>
      <vt:lpstr>Shopping Distribution By Gender</vt:lpstr>
      <vt:lpstr>Products Sold By Age Group</vt:lpstr>
      <vt:lpstr>Revenue Generated By Age Group</vt:lpstr>
      <vt:lpstr>Products Sold By Category And Gender</vt:lpstr>
      <vt:lpstr>Products Sold By Payment And Age Group</vt:lpstr>
      <vt:lpstr>Payment Method Distribution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varun gokral</dc:creator>
  <cp:lastModifiedBy>varun gokral</cp:lastModifiedBy>
  <cp:revision>1</cp:revision>
  <dcterms:created xsi:type="dcterms:W3CDTF">2026-06-24T08:14:35Z</dcterms:created>
  <dcterms:modified xsi:type="dcterms:W3CDTF">2026-06-25T05:29:33Z</dcterms:modified>
</cp:coreProperties>
</file>